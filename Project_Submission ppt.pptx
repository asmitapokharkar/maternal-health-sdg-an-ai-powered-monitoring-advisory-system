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4" r:id="rId7"/>
    <p:sldId id="285" r:id="rId8"/>
    <p:sldId id="281" r:id="rId9"/>
    <p:sldId id="279"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hyperlink" Target="https://watsonx.ai/"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hyperlink" Target="https://watsonx.ai/"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hyperlink" Target="https://watsonx.ai/" TargetMode="Externa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hyperlink" Target="https://watsonx.ai/"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hyperlink" Target="https://watsonx.ai/"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hyperlink" Target="https://github.com/AsmitaPokharkar/Maternal-Health-SDG-An-AI-Powered-Monitoring-Advisory-System.git"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06164" y="2600315"/>
          <a:ext cx="9394989" cy="2167128"/>
        </p:xfrm>
        <a:graphic>
          <a:graphicData uri="http://schemas.openxmlformats.org/drawingml/2006/table">
            <a:tbl>
              <a:tblPr>
                <a:noFill/>
                <a:tableStyleId>{0AAD8F4D-43EB-41E5-8A38-28AB6DFB1B60}</a:tableStyleId>
              </a:tblPr>
              <a:tblGrid>
                <a:gridCol w="2064867"/>
                <a:gridCol w="2443374"/>
                <a:gridCol w="2815392"/>
                <a:gridCol w="2071356"/>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dirty="0">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Asmita  Pokharkar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pokharkarasmita42@gmail.com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9326063091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651571"/>
            <a:ext cx="10280254" cy="461665"/>
          </a:xfrm>
          <a:prstGeom prst="rect">
            <a:avLst/>
          </a:prstGeom>
          <a:noFill/>
        </p:spPr>
        <p:txBody>
          <a:bodyPr wrap="square" rtlCol="0">
            <a:spAutoFit/>
          </a:bodyPr>
          <a:lstStyle/>
          <a:p>
            <a:r>
              <a:rPr lang="en-US" sz="2400" b="1" dirty="0"/>
              <a:t>Domain of  Project – </a:t>
            </a:r>
            <a:r>
              <a:rPr lang="en-IN" sz="2400" b="1" dirty="0"/>
              <a:t>Healthcare / Public Policy</a:t>
            </a:r>
            <a:endParaRPr lang="en-IN" sz="2400" b="1" dirty="0">
              <a:highlight>
                <a:srgbClr val="FFFF00"/>
              </a:highlight>
            </a:endParaRPr>
          </a:p>
        </p:txBody>
      </p:sp>
      <p:sp>
        <p:nvSpPr>
          <p:cNvPr id="7" name="TextBox 6"/>
          <p:cNvSpPr txBox="1"/>
          <p:nvPr/>
        </p:nvSpPr>
        <p:spPr>
          <a:xfrm>
            <a:off x="1206164" y="739044"/>
            <a:ext cx="9581177" cy="830997"/>
          </a:xfrm>
          <a:prstGeom prst="rect">
            <a:avLst/>
          </a:prstGeom>
          <a:noFill/>
        </p:spPr>
        <p:txBody>
          <a:bodyPr wrap="square" rtlCol="0">
            <a:spAutoFit/>
          </a:bodyPr>
          <a:lstStyle/>
          <a:p>
            <a:r>
              <a:rPr lang="en-US" sz="2400" b="1" dirty="0"/>
              <a:t>Project Tile – Maternal Health SDG : An AI‑Powered Monitoring &amp; Advisory System</a:t>
            </a:r>
            <a:endParaRPr lang="en-IN" sz="2400" b="1" dirty="0"/>
          </a:p>
        </p:txBody>
      </p:sp>
      <p:pic>
        <p:nvPicPr>
          <p:cNvPr id="3" name="Picture 2"/>
          <p:cNvPicPr>
            <a:picLocks noChangeAspect="1"/>
          </p:cNvPicPr>
          <p:nvPr/>
        </p:nvPicPr>
        <p:blipFill>
          <a:blip r:embed="rId1"/>
          <a:srcRect t="30063"/>
          <a:stretch>
            <a:fillRect/>
          </a:stretch>
        </p:blipFill>
        <p:spPr>
          <a:xfrm>
            <a:off x="3961056" y="3683879"/>
            <a:ext cx="951416" cy="9996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801314"/>
          </a:xfrm>
          <a:prstGeom prst="rect">
            <a:avLst/>
          </a:prstGeom>
          <a:noFill/>
        </p:spPr>
        <p:txBody>
          <a:bodyPr wrap="square" rtlCol="0">
            <a:spAutoFit/>
          </a:bodyPr>
          <a:lstStyle/>
          <a:p>
            <a:pPr fontAlgn="base"/>
            <a:r>
              <a:rPr lang="en-US" sz="1700" b="1" dirty="0">
                <a:latin typeface="Times New Roman" panose="02020603050405020304" pitchFamily="18" charset="0"/>
                <a:cs typeface="Times New Roman" panose="02020603050405020304" pitchFamily="18" charset="0"/>
              </a:rPr>
              <a:t>Problem Statement : Tracking Maternal Health Progress Toward SDG</a:t>
            </a:r>
            <a:endParaRPr lang="en-US" sz="1700" dirty="0">
              <a:latin typeface="Times New Roman" panose="02020603050405020304" pitchFamily="18" charset="0"/>
              <a:cs typeface="Times New Roman" panose="02020603050405020304" pitchFamily="18" charset="0"/>
            </a:endParaRPr>
          </a:p>
          <a:p>
            <a:pPr fontAlgn="base"/>
            <a:endParaRPr lang="en-US" sz="1700" b="1" dirty="0">
              <a:latin typeface="Times New Roman" panose="02020603050405020304" pitchFamily="18" charset="0"/>
              <a:cs typeface="Times New Roman" panose="02020603050405020304" pitchFamily="18" charset="0"/>
            </a:endParaRPr>
          </a:p>
          <a:p>
            <a:pPr fontAlgn="base"/>
            <a:r>
              <a:rPr lang="en-US" sz="1700" b="1" dirty="0">
                <a:latin typeface="Times New Roman" panose="02020603050405020304" pitchFamily="18" charset="0"/>
                <a:cs typeface="Times New Roman" panose="02020603050405020304" pitchFamily="18" charset="0"/>
              </a:rPr>
              <a:t>The Challenge</a:t>
            </a:r>
            <a:r>
              <a:rPr lang="en-US" sz="1700" dirty="0">
                <a:latin typeface="Times New Roman" panose="02020603050405020304" pitchFamily="18" charset="0"/>
                <a:cs typeface="Times New Roman" panose="02020603050405020304" pitchFamily="18" charset="0"/>
              </a:rPr>
              <a:t> :</a:t>
            </a:r>
            <a:endParaRPr lang="en-US" sz="1700" dirty="0">
              <a:latin typeface="Times New Roman" panose="02020603050405020304" pitchFamily="18" charset="0"/>
              <a:cs typeface="Times New Roman" panose="02020603050405020304" pitchFamily="18" charset="0"/>
            </a:endParaRPr>
          </a:p>
          <a:p>
            <a:pPr fontAlgn="base"/>
            <a:r>
              <a:rPr lang="en-US" sz="1700" dirty="0">
                <a:latin typeface="Times New Roman" panose="02020603050405020304" pitchFamily="18" charset="0"/>
                <a:cs typeface="Times New Roman" panose="02020603050405020304" pitchFamily="18" charset="0"/>
              </a:rPr>
              <a:t>Monitoring maternal health is critical to achieving </a:t>
            </a:r>
            <a:r>
              <a:rPr lang="en-US" sz="1700" b="1" dirty="0">
                <a:latin typeface="Times New Roman" panose="02020603050405020304" pitchFamily="18" charset="0"/>
                <a:cs typeface="Times New Roman" panose="02020603050405020304" pitchFamily="18" charset="0"/>
              </a:rPr>
              <a:t>SDG 3.1</a:t>
            </a:r>
            <a:r>
              <a:rPr lang="en-US" sz="1700" dirty="0">
                <a:latin typeface="Times New Roman" panose="02020603050405020304" pitchFamily="18" charset="0"/>
                <a:cs typeface="Times New Roman" panose="02020603050405020304" pitchFamily="18" charset="0"/>
              </a:rPr>
              <a:t> (reduce global maternal mortality ratio to less than 70 per 100,000 live births by 2030). However, maternal health data is scattered across multiple government reports, surveys (NFHS, SRS), and policy documents. Policymakers and researchers lack a unified, intelligent system to </a:t>
            </a:r>
            <a:r>
              <a:rPr lang="en-US" sz="1700" b="1" dirty="0" err="1">
                <a:latin typeface="Times New Roman" panose="02020603050405020304" pitchFamily="18" charset="0"/>
                <a:cs typeface="Times New Roman" panose="02020603050405020304" pitchFamily="18" charset="0"/>
              </a:rPr>
              <a:t>analyse</a:t>
            </a:r>
            <a:r>
              <a:rPr lang="en-US" sz="1700" b="1" dirty="0">
                <a:latin typeface="Times New Roman" panose="02020603050405020304" pitchFamily="18" charset="0"/>
                <a:cs typeface="Times New Roman" panose="02020603050405020304" pitchFamily="18" charset="0"/>
              </a:rPr>
              <a:t> trends, predict future MMR, classify risk districts, and answer natural language queries</a:t>
            </a:r>
            <a:r>
              <a:rPr lang="en-US" sz="1700" dirty="0">
                <a:latin typeface="Times New Roman" panose="02020603050405020304" pitchFamily="18" charset="0"/>
                <a:cs typeface="Times New Roman" panose="02020603050405020304" pitchFamily="18" charset="0"/>
              </a:rPr>
              <a:t> about maternal health indicators. Without real‑time, evidence‑based insights, resource allocation and policy interventions remain suboptimal.</a:t>
            </a:r>
            <a:endParaRPr lang="en-US" sz="1700" dirty="0">
              <a:latin typeface="Times New Roman" panose="02020603050405020304" pitchFamily="18" charset="0"/>
              <a:cs typeface="Times New Roman" panose="02020603050405020304" pitchFamily="18" charset="0"/>
            </a:endParaRPr>
          </a:p>
          <a:p>
            <a:pPr fontAlgn="base"/>
            <a:endParaRPr lang="en-US" sz="1700" dirty="0">
              <a:latin typeface="Times New Roman" panose="02020603050405020304" pitchFamily="18" charset="0"/>
              <a:cs typeface="Times New Roman" panose="02020603050405020304" pitchFamily="18" charset="0"/>
            </a:endParaRPr>
          </a:p>
          <a:p>
            <a:pPr fontAlgn="base"/>
            <a:r>
              <a:rPr lang="en-US" sz="1700" b="1" dirty="0">
                <a:latin typeface="Times New Roman" panose="02020603050405020304" pitchFamily="18" charset="0"/>
                <a:cs typeface="Times New Roman" panose="02020603050405020304" pitchFamily="18" charset="0"/>
              </a:rPr>
              <a:t>The Objective</a:t>
            </a:r>
            <a:r>
              <a:rPr lang="en-US" sz="1700" dirty="0">
                <a:latin typeface="Times New Roman" panose="02020603050405020304" pitchFamily="18" charset="0"/>
                <a:cs typeface="Times New Roman" panose="02020603050405020304" pitchFamily="18" charset="0"/>
              </a:rPr>
              <a:t> :</a:t>
            </a:r>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Build an </a:t>
            </a:r>
            <a:r>
              <a:rPr lang="en-US" sz="1700" b="1" dirty="0">
                <a:latin typeface="Times New Roman" panose="02020603050405020304" pitchFamily="18" charset="0"/>
                <a:cs typeface="Times New Roman" panose="02020603050405020304" pitchFamily="18" charset="0"/>
              </a:rPr>
              <a:t>AI‑powered Maternal Health Agent</a:t>
            </a:r>
            <a:r>
              <a:rPr lang="en-US" sz="1700" dirty="0">
                <a:latin typeface="Times New Roman" panose="02020603050405020304" pitchFamily="18" charset="0"/>
                <a:cs typeface="Times New Roman" panose="02020603050405020304" pitchFamily="18" charset="0"/>
              </a:rPr>
              <a:t> that:</a:t>
            </a:r>
            <a:endParaRPr lang="en-US"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Analyses historical MMR data</a:t>
            </a:r>
            <a:r>
              <a:rPr lang="en-US" sz="1700" dirty="0">
                <a:latin typeface="Times New Roman" panose="02020603050405020304" pitchFamily="18" charset="0"/>
                <a:cs typeface="Times New Roman" panose="02020603050405020304" pitchFamily="18" charset="0"/>
              </a:rPr>
              <a:t> (from </a:t>
            </a:r>
            <a:r>
              <a:rPr lang="en-US" sz="1700" dirty="0" err="1">
                <a:latin typeface="Times New Roman" panose="02020603050405020304" pitchFamily="18" charset="0"/>
                <a:cs typeface="Times New Roman" panose="02020603050405020304" pitchFamily="18" charset="0"/>
              </a:rPr>
              <a:t>AIKosh</a:t>
            </a:r>
            <a:r>
              <a:rPr lang="en-US" sz="1700" dirty="0">
                <a:latin typeface="Times New Roman" panose="02020603050405020304" pitchFamily="18" charset="0"/>
                <a:cs typeface="Times New Roman" panose="02020603050405020304" pitchFamily="18" charset="0"/>
              </a:rPr>
              <a:t> SDG dataset) using machine learning.</a:t>
            </a:r>
            <a:endParaRPr lang="en-US"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Predicts future MMR</a:t>
            </a:r>
            <a:r>
              <a:rPr lang="en-US" sz="1700" dirty="0">
                <a:latin typeface="Times New Roman" panose="02020603050405020304" pitchFamily="18" charset="0"/>
                <a:cs typeface="Times New Roman" panose="02020603050405020304" pitchFamily="18" charset="0"/>
              </a:rPr>
              <a:t> (regression) and </a:t>
            </a:r>
            <a:r>
              <a:rPr lang="en-US" sz="1700" b="1" dirty="0">
                <a:latin typeface="Times New Roman" panose="02020603050405020304" pitchFamily="18" charset="0"/>
                <a:cs typeface="Times New Roman" panose="02020603050405020304" pitchFamily="18" charset="0"/>
              </a:rPr>
              <a:t>classifies risk levels</a:t>
            </a:r>
            <a:r>
              <a:rPr lang="en-US" sz="1700" dirty="0">
                <a:latin typeface="Times New Roman" panose="02020603050405020304" pitchFamily="18" charset="0"/>
                <a:cs typeface="Times New Roman" panose="02020603050405020304" pitchFamily="18" charset="0"/>
              </a:rPr>
              <a:t> (High/Medium/Low).</a:t>
            </a:r>
            <a:endParaRPr lang="en-US"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Forecasts progress to 2030</a:t>
            </a:r>
            <a:r>
              <a:rPr lang="en-US" sz="1700" dirty="0">
                <a:latin typeface="Times New Roman" panose="02020603050405020304" pitchFamily="18" charset="0"/>
                <a:cs typeface="Times New Roman" panose="02020603050405020304" pitchFamily="18" charset="0"/>
              </a:rPr>
              <a:t> (time‑series) to identify states/countries on track to meet SDG 3.1.</a:t>
            </a:r>
            <a:endParaRPr lang="en-US"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Provides a RAG‑based Q&amp;A assistant</a:t>
            </a:r>
            <a:r>
              <a:rPr lang="en-US" sz="1700" dirty="0">
                <a:latin typeface="Times New Roman" panose="02020603050405020304" pitchFamily="18" charset="0"/>
                <a:cs typeface="Times New Roman" panose="02020603050405020304" pitchFamily="18" charset="0"/>
              </a:rPr>
              <a:t> (IBM Granite) that answers queries like “What is the biggest driver of MMR reduction in India?”</a:t>
            </a:r>
            <a:endParaRPr lang="en-US"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700" b="1" dirty="0" err="1">
                <a:latin typeface="Times New Roman" panose="02020603050405020304" pitchFamily="18" charset="0"/>
                <a:cs typeface="Times New Roman" panose="02020603050405020304" pitchFamily="18" charset="0"/>
              </a:rPr>
              <a:t>Visualises</a:t>
            </a:r>
            <a:r>
              <a:rPr lang="en-US" sz="1700" b="1" dirty="0">
                <a:latin typeface="Times New Roman" panose="02020603050405020304" pitchFamily="18" charset="0"/>
                <a:cs typeface="Times New Roman" panose="02020603050405020304" pitchFamily="18" charset="0"/>
              </a:rPr>
              <a:t> insights</a:t>
            </a:r>
            <a:r>
              <a:rPr lang="en-US" sz="1700" dirty="0">
                <a:latin typeface="Times New Roman" panose="02020603050405020304" pitchFamily="18" charset="0"/>
                <a:cs typeface="Times New Roman" panose="02020603050405020304" pitchFamily="18" charset="0"/>
              </a:rPr>
              <a:t> via an interactive dashboard (</a:t>
            </a:r>
            <a:r>
              <a:rPr lang="en-US" sz="1700" dirty="0" err="1">
                <a:latin typeface="Times New Roman" panose="02020603050405020304" pitchFamily="18" charset="0"/>
                <a:cs typeface="Times New Roman" panose="02020603050405020304" pitchFamily="18" charset="0"/>
              </a:rPr>
              <a:t>Streamlit</a:t>
            </a:r>
            <a:r>
              <a:rPr lang="en-US" sz="1700" dirty="0">
                <a:latin typeface="Times New Roman" panose="02020603050405020304" pitchFamily="18" charset="0"/>
                <a:cs typeface="Times New Roman" panose="02020603050405020304" pitchFamily="18" charset="0"/>
              </a:rPr>
              <a:t> / Power BI) for policymakers and researchers.</a:t>
            </a:r>
            <a:endParaRPr lang="en-US" sz="1700" dirty="0">
              <a:latin typeface="Times New Roman" panose="02020603050405020304" pitchFamily="18" charset="0"/>
              <a:cs typeface="Times New Roman" panose="02020603050405020304" pitchFamily="18" charset="0"/>
            </a:endParaRPr>
          </a:p>
          <a:p>
            <a:endParaRPr lang="en-IN" sz="17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76072" y="704088"/>
            <a:ext cx="7214616"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Problem Statement -</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391895"/>
            <a:ext cx="10607040" cy="2308324"/>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I have used </a:t>
            </a:r>
            <a:r>
              <a:rPr lang="en-IN" sz="1800" b="1" dirty="0" err="1">
                <a:latin typeface="Times New Roman" panose="02020603050405020304" pitchFamily="18" charset="0"/>
                <a:cs typeface="Times New Roman" panose="02020603050405020304" pitchFamily="18" charset="0"/>
              </a:rPr>
              <a:t>LangFlow</a:t>
            </a:r>
            <a:r>
              <a:rPr lang="en-IN" sz="1800" b="1" dirty="0">
                <a:latin typeface="Times New Roman" panose="02020603050405020304" pitchFamily="18" charset="0"/>
                <a:cs typeface="Times New Roman" panose="02020603050405020304" pitchFamily="18" charset="0"/>
              </a:rPr>
              <a:t> + IBM </a:t>
            </a:r>
            <a:r>
              <a:rPr lang="en-IN" sz="1800" b="1" dirty="0">
                <a:latin typeface="Times New Roman" panose="02020603050405020304" pitchFamily="18" charset="0"/>
                <a:cs typeface="Times New Roman" panose="02020603050405020304" pitchFamily="18" charset="0"/>
                <a:hlinkClick r:id="rId1"/>
              </a:rPr>
              <a:t>watsonx.ai</a:t>
            </a:r>
            <a:r>
              <a:rPr lang="en-IN" sz="1800" b="1" dirty="0">
                <a:latin typeface="Times New Roman" panose="02020603050405020304" pitchFamily="18" charset="0"/>
                <a:cs typeface="Times New Roman" panose="02020603050405020304" pitchFamily="18" charset="0"/>
              </a:rPr>
              <a:t> + Granite Models :</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1" dirty="0" err="1">
                <a:latin typeface="Times New Roman" panose="02020603050405020304" pitchFamily="18" charset="0"/>
                <a:cs typeface="Times New Roman" panose="02020603050405020304" pitchFamily="18" charset="0"/>
              </a:rPr>
              <a:t>LangFlow</a:t>
            </a:r>
            <a:r>
              <a:rPr lang="en-IN" sz="1800" dirty="0">
                <a:latin typeface="Times New Roman" panose="02020603050405020304" pitchFamily="18" charset="0"/>
                <a:cs typeface="Times New Roman" panose="02020603050405020304" pitchFamily="18" charset="0"/>
              </a:rPr>
              <a:t> – Orchestrate RAG workflow and agent interactions.</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IBM </a:t>
            </a:r>
            <a:r>
              <a:rPr lang="en-IN" sz="1800" b="1" dirty="0">
                <a:latin typeface="Times New Roman" panose="02020603050405020304" pitchFamily="18" charset="0"/>
                <a:cs typeface="Times New Roman" panose="02020603050405020304" pitchFamily="18" charset="0"/>
                <a:hlinkClick r:id="rId1"/>
              </a:rPr>
              <a:t>watsonx.ai</a:t>
            </a:r>
            <a:r>
              <a:rPr lang="en-IN" sz="1800" dirty="0">
                <a:latin typeface="Times New Roman" panose="02020603050405020304" pitchFamily="18" charset="0"/>
                <a:cs typeface="Times New Roman" panose="02020603050405020304" pitchFamily="18" charset="0"/>
              </a:rPr>
              <a:t> – Deploy Granite model, embeddings, and governance.</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IBM Granite</a:t>
            </a:r>
            <a:r>
              <a:rPr lang="en-IN" sz="1800" dirty="0">
                <a:latin typeface="Times New Roman" panose="02020603050405020304" pitchFamily="18" charset="0"/>
                <a:cs typeface="Times New Roman" panose="02020603050405020304" pitchFamily="18" charset="0"/>
              </a:rPr>
              <a:t> (granite‑3‑2‑8b‑instruct) – Natural language reasoning for Q&amp;A.</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Google </a:t>
            </a:r>
            <a:r>
              <a:rPr lang="en-IN" sz="1800" b="1" dirty="0" err="1">
                <a:latin typeface="Times New Roman" panose="02020603050405020304" pitchFamily="18" charset="0"/>
                <a:cs typeface="Times New Roman" panose="02020603050405020304" pitchFamily="18" charset="0"/>
              </a:rPr>
              <a:t>Colab</a:t>
            </a:r>
            <a:r>
              <a:rPr lang="en-IN" sz="1800" dirty="0">
                <a:latin typeface="Times New Roman" panose="02020603050405020304" pitchFamily="18" charset="0"/>
                <a:cs typeface="Times New Roman" panose="02020603050405020304" pitchFamily="18" charset="0"/>
              </a:rPr>
              <a:t> – Data preprocessing, ML model training (Random Forest, </a:t>
            </a:r>
            <a:r>
              <a:rPr lang="en-IN" sz="1800" dirty="0" err="1">
                <a:latin typeface="Times New Roman" panose="02020603050405020304" pitchFamily="18" charset="0"/>
                <a:cs typeface="Times New Roman" panose="02020603050405020304" pitchFamily="18" charset="0"/>
              </a:rPr>
              <a:t>XGBoost</a:t>
            </a:r>
            <a:r>
              <a:rPr lang="en-IN" sz="1800" dirty="0">
                <a:latin typeface="Times New Roman" panose="02020603050405020304" pitchFamily="18" charset="0"/>
                <a:cs typeface="Times New Roman" panose="02020603050405020304" pitchFamily="18" charset="0"/>
              </a:rPr>
              <a:t>, Linear Regression).</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FAISS / Chroma</a:t>
            </a:r>
            <a:r>
              <a:rPr lang="en-IN" sz="1800" dirty="0">
                <a:latin typeface="Times New Roman" panose="02020603050405020304" pitchFamily="18" charset="0"/>
                <a:cs typeface="Times New Roman" panose="02020603050405020304" pitchFamily="18" charset="0"/>
              </a:rPr>
              <a:t> – Vector database for RAG retrieval (nutritional/fact sheets).</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1" dirty="0" err="1">
                <a:latin typeface="Times New Roman" panose="02020603050405020304" pitchFamily="18" charset="0"/>
                <a:cs typeface="Times New Roman" panose="02020603050405020304" pitchFamily="18" charset="0"/>
              </a:rPr>
              <a:t>Streamlit</a:t>
            </a:r>
            <a:r>
              <a:rPr lang="en-IN" sz="1800" dirty="0">
                <a:latin typeface="Times New Roman" panose="02020603050405020304" pitchFamily="18" charset="0"/>
                <a:cs typeface="Times New Roman" panose="02020603050405020304" pitchFamily="18" charset="0"/>
              </a:rPr>
              <a:t> – Interactive dashboard for visualisations and user queries.</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 :</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401479"/>
          </a:xfrm>
          <a:prstGeom prst="rect">
            <a:avLst/>
          </a:prstGeom>
          <a:noFill/>
        </p:spPr>
        <p:txBody>
          <a:bodyPr wrap="square" rtlCol="0">
            <a:spAutoFit/>
          </a:bodyPr>
          <a:lstStyle/>
          <a:p>
            <a:pPr algn="just"/>
            <a:r>
              <a:rPr lang="en-US" sz="1500" dirty="0">
                <a:latin typeface="Times New Roman" panose="02020603050405020304" pitchFamily="18" charset="0"/>
                <a:cs typeface="Times New Roman" panose="02020603050405020304" pitchFamily="18" charset="0"/>
              </a:rPr>
              <a:t>The proposed solution is a </a:t>
            </a:r>
            <a:r>
              <a:rPr lang="en-US" sz="1500" b="1" dirty="0">
                <a:latin typeface="Times New Roman" panose="02020603050405020304" pitchFamily="18" charset="0"/>
                <a:cs typeface="Times New Roman" panose="02020603050405020304" pitchFamily="18" charset="0"/>
              </a:rPr>
              <a:t>multi‑agent AI system</a:t>
            </a:r>
            <a:r>
              <a:rPr lang="en-US" sz="1500" dirty="0">
                <a:latin typeface="Times New Roman" panose="02020603050405020304" pitchFamily="18" charset="0"/>
                <a:cs typeface="Times New Roman" panose="02020603050405020304" pitchFamily="18" charset="0"/>
              </a:rPr>
              <a:t> built using </a:t>
            </a:r>
            <a:r>
              <a:rPr lang="en-US" sz="1500" b="1" dirty="0" err="1">
                <a:latin typeface="Times New Roman" panose="02020603050405020304" pitchFamily="18" charset="0"/>
                <a:cs typeface="Times New Roman" panose="02020603050405020304" pitchFamily="18" charset="0"/>
              </a:rPr>
              <a:t>LangFlow</a:t>
            </a:r>
            <a:r>
              <a:rPr lang="en-US" sz="1500" b="1" dirty="0">
                <a:latin typeface="Times New Roman" panose="02020603050405020304" pitchFamily="18" charset="0"/>
                <a:cs typeface="Times New Roman" panose="02020603050405020304" pitchFamily="18" charset="0"/>
              </a:rPr>
              <a:t>, IBM </a:t>
            </a:r>
            <a:r>
              <a:rPr lang="en-US" sz="1500" b="1" dirty="0">
                <a:latin typeface="Times New Roman" panose="02020603050405020304" pitchFamily="18" charset="0"/>
                <a:cs typeface="Times New Roman" panose="02020603050405020304" pitchFamily="18" charset="0"/>
                <a:hlinkClick r:id="rId1"/>
              </a:rPr>
              <a:t>watsonx.ai</a:t>
            </a:r>
            <a:r>
              <a:rPr lang="en-US" sz="1500" b="1" dirty="0">
                <a:latin typeface="Times New Roman" panose="02020603050405020304" pitchFamily="18" charset="0"/>
                <a:cs typeface="Times New Roman" panose="02020603050405020304" pitchFamily="18" charset="0"/>
              </a:rPr>
              <a:t>, and Granite models</a:t>
            </a:r>
            <a:r>
              <a:rPr lang="en-US" sz="1500" dirty="0">
                <a:latin typeface="Times New Roman" panose="02020603050405020304" pitchFamily="18" charset="0"/>
                <a:cs typeface="Times New Roman" panose="02020603050405020304" pitchFamily="18" charset="0"/>
              </a:rPr>
              <a:t> to monitor, predict, and advise on maternal health progress.</a:t>
            </a:r>
            <a:endParaRPr lang="en-US" sz="1500" dirty="0">
              <a:latin typeface="Times New Roman" panose="02020603050405020304" pitchFamily="18" charset="0"/>
              <a:cs typeface="Times New Roman" panose="02020603050405020304" pitchFamily="18" charset="0"/>
            </a:endParaRPr>
          </a:p>
          <a:p>
            <a:pPr algn="just"/>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Core components:</a:t>
            </a:r>
            <a:endParaRPr lang="en-US" sz="1500" b="1" dirty="0">
              <a:latin typeface="Times New Roman" panose="02020603050405020304" pitchFamily="18" charset="0"/>
              <a:cs typeface="Times New Roman" panose="02020603050405020304" pitchFamily="18" charset="0"/>
            </a:endParaRPr>
          </a:p>
          <a:p>
            <a:pPr algn="just"/>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1. ML Pipeline (Google </a:t>
            </a:r>
            <a:r>
              <a:rPr lang="en-US" sz="1500" b="1" dirty="0" err="1">
                <a:latin typeface="Times New Roman" panose="02020603050405020304" pitchFamily="18" charset="0"/>
                <a:cs typeface="Times New Roman" panose="02020603050405020304" pitchFamily="18" charset="0"/>
              </a:rPr>
              <a:t>Colab</a:t>
            </a:r>
            <a:r>
              <a:rPr lang="en-US" sz="1500" b="1" dirty="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Loads </a:t>
            </a:r>
            <a:r>
              <a:rPr lang="en-US" sz="1500" dirty="0" err="1">
                <a:latin typeface="Times New Roman" panose="02020603050405020304" pitchFamily="18" charset="0"/>
                <a:cs typeface="Times New Roman" panose="02020603050405020304" pitchFamily="18" charset="0"/>
              </a:rPr>
              <a:t>AIKosh</a:t>
            </a:r>
            <a:r>
              <a:rPr lang="en-US" sz="1500" dirty="0">
                <a:latin typeface="Times New Roman" panose="02020603050405020304" pitchFamily="18" charset="0"/>
                <a:cs typeface="Times New Roman" panose="02020603050405020304" pitchFamily="18" charset="0"/>
              </a:rPr>
              <a:t> SDG dataset and filters maternal indicators (MMR, skilled birth attendance, antenatal care, adolescent birth rate, health worker density).</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Trains </a:t>
            </a:r>
            <a:r>
              <a:rPr lang="en-US" sz="1500" b="1" dirty="0">
                <a:latin typeface="Times New Roman" panose="02020603050405020304" pitchFamily="18" charset="0"/>
                <a:cs typeface="Times New Roman" panose="02020603050405020304" pitchFamily="18" charset="0"/>
              </a:rPr>
              <a:t>Random Forest &amp; </a:t>
            </a:r>
            <a:r>
              <a:rPr lang="en-US" sz="1500" b="1" dirty="0" err="1">
                <a:latin typeface="Times New Roman" panose="02020603050405020304" pitchFamily="18" charset="0"/>
                <a:cs typeface="Times New Roman" panose="02020603050405020304" pitchFamily="18" charset="0"/>
              </a:rPr>
              <a:t>XGBoost</a:t>
            </a:r>
            <a:r>
              <a:rPr lang="en-US" sz="1500" b="1" dirty="0">
                <a:latin typeface="Times New Roman" panose="02020603050405020304" pitchFamily="18" charset="0"/>
                <a:cs typeface="Times New Roman" panose="02020603050405020304" pitchFamily="18" charset="0"/>
              </a:rPr>
              <a:t> regression</a:t>
            </a:r>
            <a:r>
              <a:rPr lang="en-US" sz="1500" dirty="0">
                <a:latin typeface="Times New Roman" panose="02020603050405020304" pitchFamily="18" charset="0"/>
                <a:cs typeface="Times New Roman" panose="02020603050405020304" pitchFamily="18" charset="0"/>
              </a:rPr>
              <a:t> models to predict MMR from health indicators.</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Trains </a:t>
            </a:r>
            <a:r>
              <a:rPr lang="en-US" sz="1500" b="1" dirty="0">
                <a:latin typeface="Times New Roman" panose="02020603050405020304" pitchFamily="18" charset="0"/>
                <a:cs typeface="Times New Roman" panose="02020603050405020304" pitchFamily="18" charset="0"/>
              </a:rPr>
              <a:t>Random Forest classifier</a:t>
            </a:r>
            <a:r>
              <a:rPr lang="en-US" sz="1500" dirty="0">
                <a:latin typeface="Times New Roman" panose="02020603050405020304" pitchFamily="18" charset="0"/>
                <a:cs typeface="Times New Roman" panose="02020603050405020304" pitchFamily="18" charset="0"/>
              </a:rPr>
              <a:t> to label districts/states as Low (&lt;70), Medium (70–139), or High (≥140) risk.</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Performs </a:t>
            </a:r>
            <a:r>
              <a:rPr lang="en-US" sz="1500" b="1" dirty="0">
                <a:latin typeface="Times New Roman" panose="02020603050405020304" pitchFamily="18" charset="0"/>
                <a:cs typeface="Times New Roman" panose="02020603050405020304" pitchFamily="18" charset="0"/>
              </a:rPr>
              <a:t>linear trend forecasting</a:t>
            </a:r>
            <a:r>
              <a:rPr lang="en-US" sz="1500" dirty="0">
                <a:latin typeface="Times New Roman" panose="02020603050405020304" pitchFamily="18" charset="0"/>
                <a:cs typeface="Times New Roman" panose="02020603050405020304" pitchFamily="18" charset="0"/>
              </a:rPr>
              <a:t> to project MMR up to 2030.</a:t>
            </a:r>
            <a:endParaRPr lang="en-US" sz="1500" dirty="0">
              <a:latin typeface="Times New Roman" panose="02020603050405020304" pitchFamily="18" charset="0"/>
              <a:cs typeface="Times New Roman" panose="02020603050405020304" pitchFamily="18" charset="0"/>
            </a:endParaRPr>
          </a:p>
          <a:p>
            <a:pPr lvl="1" algn="just"/>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2. RAG‑based Q&amp;A Assistant (IBM Granite + </a:t>
            </a:r>
            <a:r>
              <a:rPr lang="en-US" sz="1500" b="1" dirty="0" err="1">
                <a:latin typeface="Times New Roman" panose="02020603050405020304" pitchFamily="18" charset="0"/>
                <a:cs typeface="Times New Roman" panose="02020603050405020304" pitchFamily="18" charset="0"/>
              </a:rPr>
              <a:t>LangFlow</a:t>
            </a:r>
            <a:r>
              <a:rPr lang="en-US" sz="1500" b="1" dirty="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Uses a vector store built from the </a:t>
            </a:r>
            <a:r>
              <a:rPr lang="en-US" sz="1500" dirty="0" err="1">
                <a:latin typeface="Times New Roman" panose="02020603050405020304" pitchFamily="18" charset="0"/>
                <a:cs typeface="Times New Roman" panose="02020603050405020304" pitchFamily="18" charset="0"/>
              </a:rPr>
              <a:t>AIKosh</a:t>
            </a:r>
            <a:r>
              <a:rPr lang="en-US" sz="1500" dirty="0">
                <a:latin typeface="Times New Roman" panose="02020603050405020304" pitchFamily="18" charset="0"/>
                <a:cs typeface="Times New Roman" panose="02020603050405020304" pitchFamily="18" charset="0"/>
              </a:rPr>
              <a:t> dataset and additional policy reports.</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Answers natural language questions: </a:t>
            </a:r>
            <a:r>
              <a:rPr lang="en-US" sz="1500" i="1" dirty="0">
                <a:latin typeface="Times New Roman" panose="02020603050405020304" pitchFamily="18" charset="0"/>
                <a:cs typeface="Times New Roman" panose="02020603050405020304" pitchFamily="18" charset="0"/>
              </a:rPr>
              <a:t>“Which Indian state has the highest MMR?”</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“Is India on track to meet SDG 3.1?”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“What factors most affect MMR?”</a:t>
            </a:r>
            <a:r>
              <a:rPr lang="en-US" sz="1500" dirty="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Granite model provides grounded, context‑aware answers.</a:t>
            </a:r>
            <a:endParaRPr lang="en-US" sz="1500" dirty="0">
              <a:latin typeface="Times New Roman" panose="02020603050405020304" pitchFamily="18" charset="0"/>
              <a:cs typeface="Times New Roman" panose="02020603050405020304" pitchFamily="18" charset="0"/>
            </a:endParaRPr>
          </a:p>
          <a:p>
            <a:pPr lvl="1" algn="just"/>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3. Interactive Dashboard (</a:t>
            </a:r>
            <a:r>
              <a:rPr lang="en-US" sz="1500" b="1" dirty="0" err="1">
                <a:latin typeface="Times New Roman" panose="02020603050405020304" pitchFamily="18" charset="0"/>
                <a:cs typeface="Times New Roman" panose="02020603050405020304" pitchFamily="18" charset="0"/>
              </a:rPr>
              <a:t>Streamlit</a:t>
            </a:r>
            <a:r>
              <a:rPr lang="en-US" sz="1500" b="1" dirty="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p>
            <a:pPr lvl="1" algn="just"/>
            <a:r>
              <a:rPr lang="en-US" sz="1500" dirty="0" err="1">
                <a:latin typeface="Times New Roman" panose="02020603050405020304" pitchFamily="18" charset="0"/>
                <a:cs typeface="Times New Roman" panose="02020603050405020304" pitchFamily="18" charset="0"/>
              </a:rPr>
              <a:t>Visualises</a:t>
            </a:r>
            <a:r>
              <a:rPr lang="en-US" sz="1500" dirty="0">
                <a:latin typeface="Times New Roman" panose="02020603050405020304" pitchFamily="18" charset="0"/>
                <a:cs typeface="Times New Roman" panose="02020603050405020304" pitchFamily="18" charset="0"/>
              </a:rPr>
              <a:t> historical MMR trends, state‑wise risk maps, forecast to 2030, and feature importance.</a:t>
            </a:r>
            <a:endParaRPr lang="en-US" sz="1500" dirty="0">
              <a:latin typeface="Times New Roman" panose="02020603050405020304" pitchFamily="18" charset="0"/>
              <a:cs typeface="Times New Roman" panose="02020603050405020304" pitchFamily="18" charset="0"/>
            </a:endParaRPr>
          </a:p>
          <a:p>
            <a:pPr lvl="1" algn="just"/>
            <a:r>
              <a:rPr lang="en-US" sz="1500" dirty="0">
                <a:latin typeface="Times New Roman" panose="02020603050405020304" pitchFamily="18" charset="0"/>
                <a:cs typeface="Times New Roman" panose="02020603050405020304" pitchFamily="18" charset="0"/>
              </a:rPr>
              <a:t>Embeds the RAG chat interface for live queries.</a:t>
            </a:r>
            <a:endParaRPr lang="en-US" sz="1500" dirty="0">
              <a:latin typeface="Times New Roman" panose="02020603050405020304" pitchFamily="18" charset="0"/>
              <a:cs typeface="Times New Roman" panose="02020603050405020304" pitchFamily="18" charset="0"/>
            </a:endParaRPr>
          </a:p>
          <a:p>
            <a:pPr algn="just"/>
            <a:r>
              <a:rPr lang="en-US" sz="1500" dirty="0">
                <a:latin typeface="Times New Roman" panose="02020603050405020304" pitchFamily="18" charset="0"/>
                <a:cs typeface="Times New Roman" panose="02020603050405020304" pitchFamily="18" charset="0"/>
              </a:rPr>
              <a:t>This end‑to‑end solution empowers policymakers, researchers, and health workers with </a:t>
            </a:r>
            <a:r>
              <a:rPr lang="en-US" sz="1500" b="1" dirty="0">
                <a:latin typeface="Times New Roman" panose="02020603050405020304" pitchFamily="18" charset="0"/>
                <a:cs typeface="Times New Roman" panose="02020603050405020304" pitchFamily="18" charset="0"/>
              </a:rPr>
              <a:t>data‑driven insights</a:t>
            </a:r>
            <a:r>
              <a:rPr lang="en-US" sz="1500" dirty="0">
                <a:latin typeface="Times New Roman" panose="02020603050405020304" pitchFamily="18" charset="0"/>
                <a:cs typeface="Times New Roman" panose="02020603050405020304" pitchFamily="18" charset="0"/>
              </a:rPr>
              <a:t> to accelerate progress toward SDG</a:t>
            </a:r>
            <a:endParaRPr lang="en-US" sz="15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Proposed Solution -</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724404" y="284563"/>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latin typeface="Times New Roman" panose="02020603050405020304" pitchFamily="18" charset="0"/>
                <a:cs typeface="Times New Roman" panose="02020603050405020304" pitchFamily="18" charset="0"/>
                <a:sym typeface="Times New Roman" panose="02020603050405020304"/>
              </a:rPr>
              <a:t>Langflow</a:t>
            </a:r>
            <a:r>
              <a:rPr lang="en-US" sz="3500" b="1" i="0" u="none" strike="noStrike" cap="none" dirty="0">
                <a:solidFill>
                  <a:srgbClr val="051D3A"/>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2400" b="1" dirty="0">
                <a:latin typeface="Times New Roman" panose="02020603050405020304" pitchFamily="18" charset="0"/>
                <a:cs typeface="Times New Roman" panose="02020603050405020304" pitchFamily="18" charset="0"/>
                <a:sym typeface="Times New Roman" panose="02020603050405020304"/>
              </a:rPr>
              <a:t>component Used -</a:t>
            </a:r>
            <a:endParaRPr sz="2400" b="1" dirty="0">
              <a:latin typeface="Times New Roman" panose="02020603050405020304" pitchFamily="18" charset="0"/>
              <a:cs typeface="Times New Roman" panose="02020603050405020304" pitchFamily="18" charset="0"/>
              <a:sym typeface="Times New Roman" panose="02020603050405020304"/>
            </a:endParaRPr>
          </a:p>
        </p:txBody>
      </p:sp>
      <p:sp>
        <p:nvSpPr>
          <p:cNvPr id="148" name="Google Shape;148;p5"/>
          <p:cNvSpPr/>
          <p:nvPr/>
        </p:nvSpPr>
        <p:spPr>
          <a:xfrm>
            <a:off x="2451145" y="6745902"/>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969418" y="7061537"/>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919197" y="6745902"/>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264115" y="7061537"/>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213895" y="6745902"/>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558813" y="7061537"/>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661636" y="824511"/>
            <a:ext cx="8823960" cy="2031325"/>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graphicFrame>
        <p:nvGraphicFramePr>
          <p:cNvPr id="4" name="Table 3"/>
          <p:cNvGraphicFramePr>
            <a:graphicFrameLocks noGrp="1"/>
          </p:cNvGraphicFramePr>
          <p:nvPr/>
        </p:nvGraphicFramePr>
        <p:xfrm>
          <a:off x="724404" y="995752"/>
          <a:ext cx="9390492" cy="4399779"/>
        </p:xfrm>
        <a:graphic>
          <a:graphicData uri="http://schemas.openxmlformats.org/drawingml/2006/table">
            <a:tbl>
              <a:tblPr/>
              <a:tblGrid>
                <a:gridCol w="3304324"/>
                <a:gridCol w="6086168"/>
              </a:tblGrid>
              <a:tr h="270862">
                <a:tc>
                  <a:txBody>
                    <a:bodyPr/>
                    <a:lstStyle/>
                    <a:p>
                      <a:pPr algn="l">
                        <a:lnSpc>
                          <a:spcPts val="1875"/>
                        </a:lnSpc>
                        <a:buNone/>
                      </a:pPr>
                      <a:endParaRPr lang="en-IN" sz="10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gn="l">
                        <a:lnSpc>
                          <a:spcPts val="1875"/>
                        </a:lnSpc>
                        <a:buNone/>
                      </a:pPr>
                      <a:endParaRPr lang="en-IN" sz="1000" b="0" dirty="0">
                        <a:effectLst/>
                        <a:latin typeface="Times New Roman" panose="02020603050405020304" pitchFamily="18" charset="0"/>
                        <a:cs typeface="Times New Roman" panose="02020603050405020304" pitchFamily="18" charset="0"/>
                      </a:endParaRPr>
                    </a:p>
                  </a:txBody>
                  <a:tcPr marL="86835" marR="86835" marT="54272" marB="54272" anchor="ctr">
                    <a:lnL>
                      <a:noFill/>
                    </a:lnL>
                    <a:lnR>
                      <a:noFill/>
                    </a:lnR>
                    <a:lnT>
                      <a:noFill/>
                    </a:lnT>
                    <a:lnB>
                      <a:noFill/>
                    </a:lnB>
                    <a:solidFill>
                      <a:schemeClr val="bg1"/>
                    </a:solidFill>
                  </a:tcPr>
                </a:tc>
              </a:tr>
              <a:tr h="614584">
                <a:tc>
                  <a:txBody>
                    <a:bodyPr/>
                    <a:lstStyle/>
                    <a:p>
                      <a:pPr marL="228600" indent="-228600">
                        <a:lnSpc>
                          <a:spcPts val="1875"/>
                        </a:lnSpc>
                        <a:buFont typeface="Arial" panose="020B0604020202020204" pitchFamily="34" charset="0"/>
                        <a:buChar char="•"/>
                      </a:pPr>
                      <a:r>
                        <a:rPr lang="en-IN" sz="1600" b="1" dirty="0">
                          <a:effectLst/>
                          <a:latin typeface="Times New Roman" panose="02020603050405020304" pitchFamily="18" charset="0"/>
                          <a:cs typeface="Times New Roman" panose="02020603050405020304" pitchFamily="18" charset="0"/>
                        </a:rPr>
                        <a:t>Chat Input</a:t>
                      </a:r>
                      <a:endParaRPr lang="en-IN" sz="16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nSpc>
                          <a:spcPts val="1875"/>
                        </a:lnSpc>
                        <a:buNone/>
                      </a:pPr>
                      <a:r>
                        <a:rPr lang="en-US" sz="1600" b="0" dirty="0">
                          <a:effectLst/>
                          <a:latin typeface="Times New Roman" panose="02020603050405020304" pitchFamily="18" charset="0"/>
                          <a:cs typeface="Times New Roman" panose="02020603050405020304" pitchFamily="18" charset="0"/>
                        </a:rPr>
                        <a:t>User asks questions about maternal health (e.g., "What is the MMR trend in India?")</a:t>
                      </a:r>
                      <a:endParaRPr lang="en-US" sz="1600" b="0" dirty="0">
                        <a:effectLst/>
                        <a:latin typeface="Times New Roman" panose="02020603050405020304" pitchFamily="18" charset="0"/>
                        <a:cs typeface="Times New Roman" panose="02020603050405020304" pitchFamily="18" charset="0"/>
                      </a:endParaRPr>
                    </a:p>
                  </a:txBody>
                  <a:tcPr marL="86835" marR="65126" marT="54272" marB="54272" anchor="ctr">
                    <a:lnL>
                      <a:noFill/>
                    </a:lnL>
                    <a:lnR>
                      <a:noFill/>
                    </a:lnR>
                    <a:lnT>
                      <a:noFill/>
                    </a:lnT>
                    <a:lnB>
                      <a:noFill/>
                    </a:lnB>
                    <a:solidFill>
                      <a:schemeClr val="bg1"/>
                    </a:solidFill>
                  </a:tcPr>
                </a:tc>
              </a:tr>
              <a:tr h="614584">
                <a:tc>
                  <a:txBody>
                    <a:bodyPr/>
                    <a:lstStyle/>
                    <a:p>
                      <a:pPr marL="228600" indent="-228600">
                        <a:lnSpc>
                          <a:spcPts val="1875"/>
                        </a:lnSpc>
                        <a:buFont typeface="Arial" panose="020B0604020202020204" pitchFamily="34" charset="0"/>
                        <a:buChar char="•"/>
                      </a:pPr>
                      <a:r>
                        <a:rPr lang="en-IN" sz="1600" b="1" dirty="0">
                          <a:effectLst/>
                          <a:latin typeface="Times New Roman" panose="02020603050405020304" pitchFamily="18" charset="0"/>
                          <a:cs typeface="Times New Roman" panose="02020603050405020304" pitchFamily="18" charset="0"/>
                        </a:rPr>
                        <a:t>IBM </a:t>
                      </a:r>
                      <a:r>
                        <a:rPr lang="en-IN" sz="1600" b="1" dirty="0" err="1">
                          <a:effectLst/>
                          <a:latin typeface="Times New Roman" panose="02020603050405020304" pitchFamily="18" charset="0"/>
                          <a:cs typeface="Times New Roman" panose="02020603050405020304" pitchFamily="18" charset="0"/>
                        </a:rPr>
                        <a:t>watsonx</a:t>
                      </a:r>
                      <a:r>
                        <a:rPr lang="en-IN" sz="1600" b="1" dirty="0">
                          <a:effectLst/>
                          <a:latin typeface="Times New Roman" panose="02020603050405020304" pitchFamily="18" charset="0"/>
                          <a:cs typeface="Times New Roman" panose="02020603050405020304" pitchFamily="18" charset="0"/>
                        </a:rPr>
                        <a:t> AI Agent</a:t>
                      </a:r>
                      <a:endParaRPr lang="en-IN" sz="16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nSpc>
                          <a:spcPts val="1875"/>
                        </a:lnSpc>
                        <a:buNone/>
                      </a:pPr>
                      <a:r>
                        <a:rPr lang="en-US" sz="1600" b="0" dirty="0">
                          <a:effectLst/>
                          <a:latin typeface="Times New Roman" panose="02020603050405020304" pitchFamily="18" charset="0"/>
                          <a:cs typeface="Times New Roman" panose="02020603050405020304" pitchFamily="18" charset="0"/>
                        </a:rPr>
                        <a:t>Processes user query using Granite model to generate answers based on retrieved context</a:t>
                      </a:r>
                      <a:endParaRPr lang="en-US" sz="1600" b="0" dirty="0">
                        <a:effectLst/>
                        <a:latin typeface="Times New Roman" panose="02020603050405020304" pitchFamily="18" charset="0"/>
                        <a:cs typeface="Times New Roman" panose="02020603050405020304" pitchFamily="18" charset="0"/>
                      </a:endParaRPr>
                    </a:p>
                  </a:txBody>
                  <a:tcPr marL="86835" marR="65126" marT="54272" marB="54272" anchor="ctr">
                    <a:lnL>
                      <a:noFill/>
                    </a:lnL>
                    <a:lnR>
                      <a:noFill/>
                    </a:lnR>
                    <a:lnT>
                      <a:noFill/>
                    </a:lnT>
                    <a:lnB>
                      <a:noFill/>
                    </a:lnB>
                    <a:solidFill>
                      <a:schemeClr val="bg1"/>
                    </a:solidFill>
                  </a:tcPr>
                </a:tc>
              </a:tr>
              <a:tr h="564835">
                <a:tc>
                  <a:txBody>
                    <a:bodyPr/>
                    <a:lstStyle/>
                    <a:p>
                      <a:pPr marL="228600" indent="-228600">
                        <a:lnSpc>
                          <a:spcPts val="1875"/>
                        </a:lnSpc>
                        <a:buFont typeface="Arial" panose="020B0604020202020204" pitchFamily="34" charset="0"/>
                        <a:buChar char="•"/>
                      </a:pPr>
                      <a:r>
                        <a:rPr lang="en-IN" sz="1600" b="1" dirty="0">
                          <a:effectLst/>
                          <a:latin typeface="Times New Roman" panose="02020603050405020304" pitchFamily="18" charset="0"/>
                          <a:cs typeface="Times New Roman" panose="02020603050405020304" pitchFamily="18" charset="0"/>
                        </a:rPr>
                        <a:t>IBM Granite Model</a:t>
                      </a:r>
                      <a:endParaRPr lang="en-IN" sz="16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nSpc>
                          <a:spcPts val="1650"/>
                        </a:lnSpc>
                        <a:buNone/>
                      </a:pPr>
                      <a:r>
                        <a:rPr lang="en-US" sz="1600" b="0" dirty="0" err="1">
                          <a:effectLst/>
                          <a:latin typeface="Times New Roman" panose="02020603050405020304" pitchFamily="18" charset="0"/>
                          <a:cs typeface="Times New Roman" panose="02020603050405020304" pitchFamily="18" charset="0"/>
                        </a:rPr>
                        <a:t>ibm</a:t>
                      </a:r>
                      <a:r>
                        <a:rPr lang="en-US" sz="1600" b="0" dirty="0">
                          <a:effectLst/>
                          <a:latin typeface="Times New Roman" panose="02020603050405020304" pitchFamily="18" charset="0"/>
                          <a:cs typeface="Times New Roman" panose="02020603050405020304" pitchFamily="18" charset="0"/>
                        </a:rPr>
                        <a:t>/granite-3-2-8b-instruct – Fast, accurate reasoning for health‑related Q&amp;A</a:t>
                      </a:r>
                      <a:endParaRPr lang="en-US" sz="1600" b="0" dirty="0">
                        <a:effectLst/>
                        <a:latin typeface="Times New Roman" panose="02020603050405020304" pitchFamily="18" charset="0"/>
                        <a:cs typeface="Times New Roman" panose="02020603050405020304" pitchFamily="18" charset="0"/>
                      </a:endParaRPr>
                    </a:p>
                  </a:txBody>
                  <a:tcPr marL="86835" marR="65126" marT="54272" marB="54272" anchor="ctr">
                    <a:lnL>
                      <a:noFill/>
                    </a:lnL>
                    <a:lnR>
                      <a:noFill/>
                    </a:lnR>
                    <a:lnT>
                      <a:noFill/>
                    </a:lnT>
                    <a:lnB>
                      <a:noFill/>
                    </a:lnB>
                    <a:solidFill>
                      <a:schemeClr val="bg1"/>
                    </a:solidFill>
                  </a:tcPr>
                </a:tc>
              </a:tr>
              <a:tr h="614584">
                <a:tc>
                  <a:txBody>
                    <a:bodyPr/>
                    <a:lstStyle/>
                    <a:p>
                      <a:pPr marL="228600" indent="-228600">
                        <a:lnSpc>
                          <a:spcPts val="1875"/>
                        </a:lnSpc>
                        <a:buFont typeface="Arial" panose="020B0604020202020204" pitchFamily="34" charset="0"/>
                        <a:buChar char="•"/>
                      </a:pPr>
                      <a:r>
                        <a:rPr lang="en-IN" sz="1600" b="1" dirty="0">
                          <a:effectLst/>
                          <a:latin typeface="Times New Roman" panose="02020603050405020304" pitchFamily="18" charset="0"/>
                          <a:cs typeface="Times New Roman" panose="02020603050405020304" pitchFamily="18" charset="0"/>
                        </a:rPr>
                        <a:t>Chat Output</a:t>
                      </a:r>
                      <a:endParaRPr lang="en-IN" sz="16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nSpc>
                          <a:spcPts val="1875"/>
                        </a:lnSpc>
                        <a:buNone/>
                      </a:pPr>
                      <a:r>
                        <a:rPr lang="en-US" sz="1600" b="0" dirty="0">
                          <a:effectLst/>
                          <a:latin typeface="Times New Roman" panose="02020603050405020304" pitchFamily="18" charset="0"/>
                          <a:cs typeface="Times New Roman" panose="02020603050405020304" pitchFamily="18" charset="0"/>
                        </a:rPr>
                        <a:t>Displays AI‑generated answers, including statistics and policy recommendations</a:t>
                      </a:r>
                      <a:endParaRPr lang="en-US" sz="1600" b="0" dirty="0">
                        <a:effectLst/>
                        <a:latin typeface="Times New Roman" panose="02020603050405020304" pitchFamily="18" charset="0"/>
                        <a:cs typeface="Times New Roman" panose="02020603050405020304" pitchFamily="18" charset="0"/>
                      </a:endParaRPr>
                    </a:p>
                  </a:txBody>
                  <a:tcPr marL="86835" marR="65126" marT="54272" marB="54272" anchor="ctr">
                    <a:lnL>
                      <a:noFill/>
                    </a:lnL>
                    <a:lnR>
                      <a:noFill/>
                    </a:lnR>
                    <a:lnT>
                      <a:noFill/>
                    </a:lnT>
                    <a:lnB>
                      <a:noFill/>
                    </a:lnB>
                    <a:solidFill>
                      <a:schemeClr val="bg1"/>
                    </a:solidFill>
                  </a:tcPr>
                </a:tc>
              </a:tr>
              <a:tr h="614584">
                <a:tc>
                  <a:txBody>
                    <a:bodyPr/>
                    <a:lstStyle/>
                    <a:p>
                      <a:pPr marL="228600" indent="-228600">
                        <a:lnSpc>
                          <a:spcPts val="1875"/>
                        </a:lnSpc>
                        <a:buFont typeface="Arial" panose="020B0604020202020204" pitchFamily="34" charset="0"/>
                        <a:buChar char="•"/>
                      </a:pPr>
                      <a:r>
                        <a:rPr lang="en-IN" sz="1600" b="1" dirty="0">
                          <a:effectLst/>
                          <a:latin typeface="Times New Roman" panose="02020603050405020304" pitchFamily="18" charset="0"/>
                          <a:cs typeface="Times New Roman" panose="02020603050405020304" pitchFamily="18" charset="0"/>
                        </a:rPr>
                        <a:t>File Component</a:t>
                      </a:r>
                      <a:endParaRPr lang="en-IN" sz="16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nSpc>
                          <a:spcPts val="1875"/>
                        </a:lnSpc>
                        <a:buNone/>
                      </a:pPr>
                      <a:r>
                        <a:rPr lang="en-US" sz="1600" b="0" dirty="0">
                          <a:effectLst/>
                          <a:latin typeface="Times New Roman" panose="02020603050405020304" pitchFamily="18" charset="0"/>
                          <a:cs typeface="Times New Roman" panose="02020603050405020304" pitchFamily="18" charset="0"/>
                        </a:rPr>
                        <a:t>Loads </a:t>
                      </a:r>
                      <a:r>
                        <a:rPr lang="en-US" sz="1600" b="0" dirty="0" err="1">
                          <a:effectLst/>
                          <a:latin typeface="Times New Roman" panose="02020603050405020304" pitchFamily="18" charset="0"/>
                          <a:cs typeface="Times New Roman" panose="02020603050405020304" pitchFamily="18" charset="0"/>
                        </a:rPr>
                        <a:t>AIKosh</a:t>
                      </a:r>
                      <a:r>
                        <a:rPr lang="en-US" sz="1600" b="0" dirty="0">
                          <a:effectLst/>
                          <a:latin typeface="Times New Roman" panose="02020603050405020304" pitchFamily="18" charset="0"/>
                          <a:cs typeface="Times New Roman" panose="02020603050405020304" pitchFamily="18" charset="0"/>
                        </a:rPr>
                        <a:t> CSV dataset and pre‑computed ML model outputs (predictions, forecasts)</a:t>
                      </a:r>
                      <a:endParaRPr lang="en-US" sz="1600" b="0" dirty="0">
                        <a:effectLst/>
                        <a:latin typeface="Times New Roman" panose="02020603050405020304" pitchFamily="18" charset="0"/>
                        <a:cs typeface="Times New Roman" panose="02020603050405020304" pitchFamily="18" charset="0"/>
                      </a:endParaRPr>
                    </a:p>
                  </a:txBody>
                  <a:tcPr marL="86835" marR="65126" marT="54272" marB="54272" anchor="ctr">
                    <a:lnL>
                      <a:noFill/>
                    </a:lnL>
                    <a:lnR>
                      <a:noFill/>
                    </a:lnR>
                    <a:lnT>
                      <a:noFill/>
                    </a:lnT>
                    <a:lnB>
                      <a:noFill/>
                    </a:lnB>
                    <a:solidFill>
                      <a:schemeClr val="bg1"/>
                    </a:solidFill>
                  </a:tcPr>
                </a:tc>
              </a:tr>
              <a:tr h="614584">
                <a:tc>
                  <a:txBody>
                    <a:bodyPr/>
                    <a:lstStyle/>
                    <a:p>
                      <a:pPr marL="228600" indent="-228600">
                        <a:lnSpc>
                          <a:spcPts val="1875"/>
                        </a:lnSpc>
                        <a:buFont typeface="Arial" panose="020B0604020202020204" pitchFamily="34" charset="0"/>
                        <a:buChar char="•"/>
                      </a:pPr>
                      <a:r>
                        <a:rPr lang="en-IN" sz="1600" b="1" dirty="0">
                          <a:effectLst/>
                          <a:latin typeface="Times New Roman" panose="02020603050405020304" pitchFamily="18" charset="0"/>
                          <a:cs typeface="Times New Roman" panose="02020603050405020304" pitchFamily="18" charset="0"/>
                        </a:rPr>
                        <a:t>Vector Store (FAISS)</a:t>
                      </a:r>
                      <a:endParaRPr lang="en-IN" sz="16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nSpc>
                          <a:spcPts val="1875"/>
                        </a:lnSpc>
                        <a:buNone/>
                      </a:pPr>
                      <a:r>
                        <a:rPr lang="en-US" sz="1600" b="0" dirty="0">
                          <a:effectLst/>
                          <a:latin typeface="Times New Roman" panose="02020603050405020304" pitchFamily="18" charset="0"/>
                          <a:cs typeface="Times New Roman" panose="02020603050405020304" pitchFamily="18" charset="0"/>
                        </a:rPr>
                        <a:t>Stores embeddings of dataset rows and policy documents for RAG retrieval</a:t>
                      </a:r>
                      <a:endParaRPr lang="en-US" sz="1600" b="0" dirty="0">
                        <a:effectLst/>
                        <a:latin typeface="Times New Roman" panose="02020603050405020304" pitchFamily="18" charset="0"/>
                        <a:cs typeface="Times New Roman" panose="02020603050405020304" pitchFamily="18" charset="0"/>
                      </a:endParaRPr>
                    </a:p>
                  </a:txBody>
                  <a:tcPr marL="86835" marR="65126" marT="54272" marB="54272" anchor="ctr">
                    <a:lnL>
                      <a:noFill/>
                    </a:lnL>
                    <a:lnR>
                      <a:noFill/>
                    </a:lnR>
                    <a:lnT>
                      <a:noFill/>
                    </a:lnT>
                    <a:lnB>
                      <a:noFill/>
                    </a:lnB>
                    <a:solidFill>
                      <a:schemeClr val="bg1"/>
                    </a:solidFill>
                  </a:tcPr>
                </a:tc>
              </a:tr>
              <a:tr h="442723">
                <a:tc>
                  <a:txBody>
                    <a:bodyPr/>
                    <a:lstStyle/>
                    <a:p>
                      <a:pPr marL="228600" indent="-228600">
                        <a:lnSpc>
                          <a:spcPts val="1875"/>
                        </a:lnSpc>
                        <a:buFont typeface="Arial" panose="020B0604020202020204" pitchFamily="34" charset="0"/>
                        <a:buChar char="•"/>
                      </a:pPr>
                      <a:r>
                        <a:rPr lang="en-IN" sz="1600" b="1" dirty="0">
                          <a:effectLst/>
                          <a:latin typeface="Times New Roman" panose="02020603050405020304" pitchFamily="18" charset="0"/>
                          <a:cs typeface="Times New Roman" panose="02020603050405020304" pitchFamily="18" charset="0"/>
                        </a:rPr>
                        <a:t>Text Splitter</a:t>
                      </a:r>
                      <a:endParaRPr lang="en-IN" sz="1600" b="0" dirty="0">
                        <a:effectLst/>
                        <a:latin typeface="Times New Roman" panose="02020603050405020304" pitchFamily="18" charset="0"/>
                        <a:cs typeface="Times New Roman" panose="02020603050405020304" pitchFamily="18" charset="0"/>
                      </a:endParaRPr>
                    </a:p>
                  </a:txBody>
                  <a:tcPr marL="65126" marR="86835" marT="54272" marB="54272" anchor="ctr">
                    <a:lnL>
                      <a:noFill/>
                    </a:lnL>
                    <a:lnR>
                      <a:noFill/>
                    </a:lnR>
                    <a:lnT>
                      <a:noFill/>
                    </a:lnT>
                    <a:lnB>
                      <a:noFill/>
                    </a:lnB>
                    <a:solidFill>
                      <a:schemeClr val="bg1"/>
                    </a:solidFill>
                  </a:tcPr>
                </a:tc>
                <a:tc>
                  <a:txBody>
                    <a:bodyPr/>
                    <a:lstStyle/>
                    <a:p>
                      <a:pPr>
                        <a:lnSpc>
                          <a:spcPts val="1875"/>
                        </a:lnSpc>
                        <a:buNone/>
                      </a:pPr>
                      <a:r>
                        <a:rPr lang="en-US" sz="1600" b="0" dirty="0">
                          <a:effectLst/>
                          <a:latin typeface="Times New Roman" panose="02020603050405020304" pitchFamily="18" charset="0"/>
                          <a:cs typeface="Times New Roman" panose="02020603050405020304" pitchFamily="18" charset="0"/>
                        </a:rPr>
                        <a:t>Chunks long documents (e.g., SDG reports) for efficient embedding</a:t>
                      </a:r>
                      <a:endParaRPr lang="en-US" sz="1600" b="0" dirty="0">
                        <a:effectLst/>
                        <a:latin typeface="Times New Roman" panose="02020603050405020304" pitchFamily="18" charset="0"/>
                        <a:cs typeface="Times New Roman" panose="02020603050405020304" pitchFamily="18" charset="0"/>
                      </a:endParaRPr>
                    </a:p>
                  </a:txBody>
                  <a:tcPr marL="86835" marR="65126" marT="54272" marB="54272" anchor="ctr">
                    <a:lnL>
                      <a:noFill/>
                    </a:lnL>
                    <a:lnR>
                      <a:noFill/>
                    </a:lnR>
                    <a:lnT>
                      <a:noFill/>
                    </a:lnT>
                    <a:lnB>
                      <a:noFill/>
                    </a:lnB>
                    <a:solidFill>
                      <a:schemeClr val="bg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800" b="1" dirty="0" err="1">
                <a:latin typeface="Times New Roman" panose="02020603050405020304" pitchFamily="18" charset="0"/>
                <a:cs typeface="Times New Roman" panose="02020603050405020304" pitchFamily="18" charset="0"/>
                <a:sym typeface="Times New Roman" panose="02020603050405020304"/>
              </a:rPr>
              <a:t>Langflow</a:t>
            </a:r>
            <a:r>
              <a:rPr lang="en-US" sz="2800" b="1" i="0" u="none" strike="noStrike" cap="none" dirty="0">
                <a:solidFill>
                  <a:srgbClr val="051D3A"/>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 </a:t>
            </a:r>
            <a:r>
              <a:rPr lang="en-US" sz="2800" b="1" dirty="0">
                <a:solidFill>
                  <a:srgbClr val="051D3A"/>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Architecture </a:t>
            </a:r>
            <a:r>
              <a:rPr lang="en-US" sz="2800" b="1" dirty="0">
                <a:latin typeface="Times New Roman" panose="02020603050405020304" pitchFamily="18" charset="0"/>
                <a:cs typeface="Times New Roman" panose="02020603050405020304" pitchFamily="18" charset="0"/>
                <a:sym typeface="Times New Roman" panose="02020603050405020304"/>
              </a:rPr>
              <a:t>workflow -</a:t>
            </a:r>
            <a:endParaRPr sz="2800" b="1" dirty="0">
              <a:latin typeface="Times New Roman" panose="02020603050405020304" pitchFamily="18" charset="0"/>
              <a:cs typeface="Times New Roman" panose="02020603050405020304" pitchFamily="18" charset="0"/>
              <a:sym typeface="Times New Roman" panose="02020603050405020304"/>
            </a:endParaRPr>
          </a:p>
        </p:txBody>
      </p:sp>
      <p:pic>
        <p:nvPicPr>
          <p:cNvPr id="5" name="Picture 4"/>
          <p:cNvPicPr>
            <a:picLocks noChangeAspect="1"/>
          </p:cNvPicPr>
          <p:nvPr/>
        </p:nvPicPr>
        <p:blipFill>
          <a:blip r:embed="rId1"/>
          <a:stretch>
            <a:fillRect/>
          </a:stretch>
        </p:blipFill>
        <p:spPr>
          <a:xfrm>
            <a:off x="1543665" y="771747"/>
            <a:ext cx="8810932" cy="58739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470307" y="657090"/>
            <a:ext cx="3015343" cy="4523014"/>
          </a:xfrm>
          <a:prstGeom prst="rect">
            <a:avLst/>
          </a:prstGeom>
          <a:noFill/>
          <a:ln>
            <a:noFill/>
          </a:ln>
        </p:spPr>
      </p:pic>
      <p:sp>
        <p:nvSpPr>
          <p:cNvPr id="2" name="TextBox 1"/>
          <p:cNvSpPr txBox="1"/>
          <p:nvPr/>
        </p:nvSpPr>
        <p:spPr>
          <a:xfrm>
            <a:off x="475488" y="283464"/>
            <a:ext cx="9317736"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Role of Agentic AI in the solution </a:t>
            </a:r>
            <a:endParaRPr lang="en-IN" sz="28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21792" y="1167493"/>
            <a:ext cx="7406640" cy="4278094"/>
          </a:xfrm>
          <a:prstGeom prst="rect">
            <a:avLst/>
          </a:prstGeom>
          <a:noFill/>
        </p:spPr>
        <p:txBody>
          <a:bodyPr wrap="square" rtlCol="0">
            <a:spAutoFit/>
          </a:bodyPr>
          <a:lstStyle/>
          <a:p>
            <a:pPr algn="just"/>
            <a:r>
              <a:rPr lang="en-US" sz="1600" b="1" dirty="0">
                <a:latin typeface="Times New Roman" panose="02020603050405020304" pitchFamily="18" charset="0"/>
                <a:cs typeface="Times New Roman" panose="02020603050405020304" pitchFamily="18" charset="0"/>
              </a:rPr>
              <a:t>Agentic AI</a:t>
            </a:r>
            <a:r>
              <a:rPr lang="en-US" sz="1600" dirty="0">
                <a:latin typeface="Times New Roman" panose="02020603050405020304" pitchFamily="18" charset="0"/>
                <a:cs typeface="Times New Roman" panose="02020603050405020304" pitchFamily="18" charset="0"/>
              </a:rPr>
              <a:t> enables the Maternal Health Agent to act as an autonomous, intelligent advisor rather than a static dashboard.</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Using </a:t>
            </a:r>
            <a:r>
              <a:rPr lang="en-US" sz="1600" b="1" dirty="0">
                <a:latin typeface="Times New Roman" panose="02020603050405020304" pitchFamily="18" charset="0"/>
                <a:cs typeface="Times New Roman" panose="02020603050405020304" pitchFamily="18" charset="0"/>
              </a:rPr>
              <a:t>IBM </a:t>
            </a:r>
            <a:r>
              <a:rPr lang="en-US" sz="1600" b="1" dirty="0">
                <a:latin typeface="Times New Roman" panose="02020603050405020304" pitchFamily="18" charset="0"/>
                <a:cs typeface="Times New Roman" panose="02020603050405020304" pitchFamily="18" charset="0"/>
                <a:hlinkClick r:id="rId2"/>
              </a:rPr>
              <a:t>watsonx.ai</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IBM Granite</a:t>
            </a:r>
            <a:r>
              <a:rPr lang="en-US" sz="1600" dirty="0">
                <a:latin typeface="Times New Roman" panose="02020603050405020304" pitchFamily="18" charset="0"/>
                <a:cs typeface="Times New Roman" panose="02020603050405020304" pitchFamily="18" charset="0"/>
              </a:rPr>
              <a:t>, the system coordinates multiple </a:t>
            </a:r>
            <a:r>
              <a:rPr lang="en-US" sz="1600" dirty="0" err="1">
                <a:latin typeface="Times New Roman" panose="02020603050405020304" pitchFamily="18" charset="0"/>
                <a:cs typeface="Times New Roman" panose="02020603050405020304" pitchFamily="18" charset="0"/>
              </a:rPr>
              <a:t>specialised</a:t>
            </a:r>
            <a:r>
              <a:rPr lang="en-US" sz="1600" dirty="0">
                <a:latin typeface="Times New Roman" panose="02020603050405020304" pitchFamily="18" charset="0"/>
                <a:cs typeface="Times New Roman" panose="02020603050405020304" pitchFamily="18" charset="0"/>
              </a:rPr>
              <a:t> capabilities:</a:t>
            </a:r>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Data Analysis Agent</a:t>
            </a:r>
            <a:r>
              <a:rPr lang="en-US" sz="1600" dirty="0">
                <a:latin typeface="Times New Roman" panose="02020603050405020304" pitchFamily="18" charset="0"/>
                <a:cs typeface="Times New Roman" panose="02020603050405020304" pitchFamily="18" charset="0"/>
              </a:rPr>
              <a:t> – Runs ML models to predict MMR and risk categories.</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Forecast Agent</a:t>
            </a:r>
            <a:r>
              <a:rPr lang="en-US" sz="1600" dirty="0">
                <a:latin typeface="Times New Roman" panose="02020603050405020304" pitchFamily="18" charset="0"/>
                <a:cs typeface="Times New Roman" panose="02020603050405020304" pitchFamily="18" charset="0"/>
              </a:rPr>
              <a:t> – Projects future MMR trends using time‑series models.</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RAG Q&amp;A Agent</a:t>
            </a:r>
            <a:r>
              <a:rPr lang="en-US" sz="1600" dirty="0">
                <a:latin typeface="Times New Roman" panose="02020603050405020304" pitchFamily="18" charset="0"/>
                <a:cs typeface="Times New Roman" panose="02020603050405020304" pitchFamily="18" charset="0"/>
              </a:rPr>
              <a:t> – Retrieves relevant policy data and answers natural language queries.</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1" dirty="0" err="1">
                <a:latin typeface="Times New Roman" panose="02020603050405020304" pitchFamily="18" charset="0"/>
                <a:cs typeface="Times New Roman" panose="02020603050405020304" pitchFamily="18" charset="0"/>
              </a:rPr>
              <a:t>Visualisation</a:t>
            </a:r>
            <a:r>
              <a:rPr lang="en-US" sz="1600" b="1" dirty="0">
                <a:latin typeface="Times New Roman" panose="02020603050405020304" pitchFamily="18" charset="0"/>
                <a:cs typeface="Times New Roman" panose="02020603050405020304" pitchFamily="18" charset="0"/>
              </a:rPr>
              <a:t> Agent</a:t>
            </a:r>
            <a:r>
              <a:rPr lang="en-US" sz="1600" dirty="0">
                <a:latin typeface="Times New Roman" panose="02020603050405020304" pitchFamily="18" charset="0"/>
                <a:cs typeface="Times New Roman" panose="02020603050405020304" pitchFamily="18" charset="0"/>
              </a:rPr>
              <a:t> – Generates charts and maps on demand.</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These agents </a:t>
            </a:r>
            <a:r>
              <a:rPr lang="en-US" sz="1600" b="1" dirty="0">
                <a:latin typeface="Times New Roman" panose="02020603050405020304" pitchFamily="18" charset="0"/>
                <a:cs typeface="Times New Roman" panose="02020603050405020304" pitchFamily="18" charset="0"/>
              </a:rPr>
              <a:t>collaborate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communicate</a:t>
            </a:r>
            <a:r>
              <a:rPr lang="en-US" sz="1600" dirty="0">
                <a:latin typeface="Times New Roman" panose="02020603050405020304" pitchFamily="18" charset="0"/>
                <a:cs typeface="Times New Roman" panose="02020603050405020304" pitchFamily="18" charset="0"/>
              </a:rPr>
              <a:t>, providing context‑aware, real‑time insights. The system adapts when new data (e.g., latest NFHS survey) is added, re‑training models and updating the vector store.</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Overall, Agentic AI makes the solution </a:t>
            </a:r>
            <a:r>
              <a:rPr lang="en-US" sz="1600" b="1" dirty="0">
                <a:latin typeface="Times New Roman" panose="02020603050405020304" pitchFamily="18" charset="0"/>
                <a:cs typeface="Times New Roman" panose="02020603050405020304" pitchFamily="18" charset="0"/>
              </a:rPr>
              <a:t>proactive, goal‑driven, and intelligent</a:t>
            </a:r>
            <a:r>
              <a:rPr lang="en-US" sz="1600" dirty="0">
                <a:latin typeface="Times New Roman" panose="02020603050405020304" pitchFamily="18" charset="0"/>
                <a:cs typeface="Times New Roman" panose="02020603050405020304" pitchFamily="18" charset="0"/>
              </a:rPr>
              <a:t> – acting like a </a:t>
            </a:r>
            <a:r>
              <a:rPr lang="en-US" sz="1600" b="1" dirty="0">
                <a:latin typeface="Times New Roman" panose="02020603050405020304" pitchFamily="18" charset="0"/>
                <a:cs typeface="Times New Roman" panose="02020603050405020304" pitchFamily="18" charset="0"/>
              </a:rPr>
              <a:t>virtual public health analyst</a:t>
            </a:r>
            <a:r>
              <a:rPr lang="en-US" sz="1600" dirty="0">
                <a:latin typeface="Times New Roman" panose="02020603050405020304" pitchFamily="18" charset="0"/>
                <a:cs typeface="Times New Roman" panose="02020603050405020304" pitchFamily="18" charset="0"/>
              </a:rPr>
              <a:t> that helps India and other countries track and achieve SDG </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 :</a:t>
            </a:r>
            <a:endParaRPr lang="en-IN" sz="2400" b="1"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928908" y="1085034"/>
          <a:ext cx="8456251" cy="4740732"/>
        </p:xfrm>
        <a:graphic>
          <a:graphicData uri="http://schemas.openxmlformats.org/drawingml/2006/table">
            <a:tbl>
              <a:tblPr/>
              <a:tblGrid>
                <a:gridCol w="3927140"/>
                <a:gridCol w="4529111"/>
              </a:tblGrid>
              <a:tr h="571656">
                <a:tc>
                  <a:txBody>
                    <a:bodyPr/>
                    <a:lstStyle/>
                    <a:p>
                      <a:pPr marL="285750" indent="-285750">
                        <a:lnSpc>
                          <a:spcPts val="1875"/>
                        </a:lnSpc>
                        <a:buFont typeface="Arial" panose="020B0604020202020204" pitchFamily="34" charset="0"/>
                        <a:buChar char="•"/>
                      </a:pPr>
                      <a:r>
                        <a:rPr lang="en-IN" sz="1600" b="1" dirty="0" err="1">
                          <a:effectLst/>
                          <a:latin typeface="quote-cjk-patch"/>
                        </a:rPr>
                        <a:t>LangFlow</a:t>
                      </a:r>
                      <a:endParaRPr lang="en-IN"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US" sz="1600" b="0">
                          <a:effectLst/>
                          <a:latin typeface="quote-cjk-patch"/>
                        </a:rPr>
                        <a:t>Visual orchestration of multi‑agent workflows and RAG pipelines</a:t>
                      </a:r>
                      <a:endParaRPr lang="en-US" sz="1600" b="0">
                        <a:effectLst/>
                        <a:latin typeface="quote-cjk-patch"/>
                      </a:endParaRPr>
                    </a:p>
                  </a:txBody>
                  <a:tcPr marL="112124" marR="84093" marT="70077" marB="70077" anchor="ctr">
                    <a:lnL>
                      <a:noFill/>
                    </a:lnL>
                    <a:lnR>
                      <a:noFill/>
                    </a:lnR>
                    <a:lnT>
                      <a:noFill/>
                    </a:lnT>
                    <a:lnB>
                      <a:noFill/>
                    </a:lnB>
                    <a:noFill/>
                  </a:tcPr>
                </a:tc>
              </a:tr>
              <a:tr h="571656">
                <a:tc>
                  <a:txBody>
                    <a:bodyPr/>
                    <a:lstStyle/>
                    <a:p>
                      <a:pPr marL="285750" indent="-285750">
                        <a:lnSpc>
                          <a:spcPts val="1650"/>
                        </a:lnSpc>
                        <a:buFont typeface="Arial" panose="020B0604020202020204" pitchFamily="34" charset="0"/>
                        <a:buChar char="•"/>
                      </a:pPr>
                      <a:r>
                        <a:rPr lang="en-IN" sz="1600" b="1" dirty="0">
                          <a:effectLst/>
                          <a:latin typeface="quote-cjk-patch"/>
                        </a:rPr>
                        <a:t>IBM Granite</a:t>
                      </a:r>
                      <a:r>
                        <a:rPr lang="en-IN" sz="1600" b="0" dirty="0">
                          <a:effectLst/>
                          <a:latin typeface="quote-cjk-patch"/>
                        </a:rPr>
                        <a:t> (</a:t>
                      </a:r>
                      <a:r>
                        <a:rPr lang="en-IN" sz="1600" b="0" dirty="0" err="1">
                          <a:effectLst/>
                          <a:latin typeface="Menlo"/>
                        </a:rPr>
                        <a:t>ibm</a:t>
                      </a:r>
                      <a:r>
                        <a:rPr lang="en-IN" sz="1600" b="0" dirty="0">
                          <a:effectLst/>
                          <a:latin typeface="Menlo"/>
                        </a:rPr>
                        <a:t>/granite-3-2-8b-instruct</a:t>
                      </a:r>
                      <a:r>
                        <a:rPr lang="en-IN" sz="1600" b="0" dirty="0">
                          <a:effectLst/>
                          <a:latin typeface="quote-cjk-patch"/>
                        </a:rPr>
                        <a:t>)</a:t>
                      </a:r>
                      <a:endParaRPr lang="en-IN"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US" sz="1600" b="0" dirty="0">
                          <a:effectLst/>
                          <a:latin typeface="quote-cjk-patch"/>
                        </a:rPr>
                        <a:t>Natural language understanding, reasoning, and answer generation</a:t>
                      </a:r>
                      <a:endParaRPr lang="en-US" sz="1600" b="0" dirty="0">
                        <a:effectLst/>
                        <a:latin typeface="quote-cjk-patch"/>
                      </a:endParaRPr>
                    </a:p>
                  </a:txBody>
                  <a:tcPr marL="112124" marR="84093" marT="70077" marB="70077" anchor="ctr">
                    <a:lnL>
                      <a:noFill/>
                    </a:lnL>
                    <a:lnR>
                      <a:noFill/>
                    </a:lnR>
                    <a:lnT>
                      <a:noFill/>
                    </a:lnT>
                    <a:lnB>
                      <a:noFill/>
                    </a:lnB>
                    <a:noFill/>
                  </a:tcPr>
                </a:tc>
              </a:tr>
              <a:tr h="571656">
                <a:tc>
                  <a:txBody>
                    <a:bodyPr/>
                    <a:lstStyle/>
                    <a:p>
                      <a:pPr marL="285750" indent="-285750">
                        <a:lnSpc>
                          <a:spcPts val="1875"/>
                        </a:lnSpc>
                        <a:buFont typeface="Arial" panose="020B0604020202020204" pitchFamily="34" charset="0"/>
                        <a:buChar char="•"/>
                      </a:pPr>
                      <a:r>
                        <a:rPr lang="en-IN" sz="1600" b="1" dirty="0">
                          <a:effectLst/>
                          <a:latin typeface="quote-cjk-patch"/>
                        </a:rPr>
                        <a:t>IBM Cloud</a:t>
                      </a:r>
                      <a:endParaRPr lang="en-IN"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US" sz="1600" b="0">
                          <a:effectLst/>
                          <a:latin typeface="quote-cjk-patch"/>
                        </a:rPr>
                        <a:t>Secure, scalable deployment of the complete agent system</a:t>
                      </a:r>
                      <a:endParaRPr lang="en-US" sz="1600" b="0">
                        <a:effectLst/>
                        <a:latin typeface="quote-cjk-patch"/>
                      </a:endParaRPr>
                    </a:p>
                  </a:txBody>
                  <a:tcPr marL="112124" marR="84093" marT="70077" marB="70077" anchor="ctr">
                    <a:lnL>
                      <a:noFill/>
                    </a:lnL>
                    <a:lnR>
                      <a:noFill/>
                    </a:lnR>
                    <a:lnT>
                      <a:noFill/>
                    </a:lnT>
                    <a:lnB>
                      <a:noFill/>
                    </a:lnB>
                    <a:noFill/>
                  </a:tcPr>
                </a:tc>
              </a:tr>
              <a:tr h="571656">
                <a:tc>
                  <a:txBody>
                    <a:bodyPr/>
                    <a:lstStyle/>
                    <a:p>
                      <a:pPr marL="285750" indent="-285750">
                        <a:lnSpc>
                          <a:spcPts val="1875"/>
                        </a:lnSpc>
                        <a:buFont typeface="Arial" panose="020B0604020202020204" pitchFamily="34" charset="0"/>
                        <a:buChar char="•"/>
                      </a:pPr>
                      <a:r>
                        <a:rPr lang="en-IN" sz="1600" b="1" dirty="0">
                          <a:effectLst/>
                          <a:latin typeface="quote-cjk-patch"/>
                        </a:rPr>
                        <a:t>IBM </a:t>
                      </a:r>
                      <a:r>
                        <a:rPr lang="en-IN" sz="1600" b="1" u="none" strike="noStrike" dirty="0">
                          <a:solidFill>
                            <a:srgbClr val="679EFE"/>
                          </a:solidFill>
                          <a:effectLst/>
                          <a:latin typeface="quote-cjk-patch"/>
                          <a:hlinkClick r:id="rId1"/>
                        </a:rPr>
                        <a:t>watsonx.ai</a:t>
                      </a:r>
                      <a:endParaRPr lang="en-IN"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IN" sz="1600" b="0">
                          <a:effectLst/>
                          <a:latin typeface="quote-cjk-patch"/>
                        </a:rPr>
                        <a:t>Model hosting, embedding generation, and AI governance</a:t>
                      </a:r>
                      <a:endParaRPr lang="en-IN" sz="1600" b="0">
                        <a:effectLst/>
                        <a:latin typeface="quote-cjk-patch"/>
                      </a:endParaRPr>
                    </a:p>
                  </a:txBody>
                  <a:tcPr marL="112124" marR="84093" marT="70077" marB="70077" anchor="ctr">
                    <a:lnL>
                      <a:noFill/>
                    </a:lnL>
                    <a:lnR>
                      <a:noFill/>
                    </a:lnR>
                    <a:lnT>
                      <a:noFill/>
                    </a:lnT>
                    <a:lnB>
                      <a:noFill/>
                    </a:lnB>
                    <a:noFill/>
                  </a:tcPr>
                </a:tc>
              </a:tr>
              <a:tr h="571656">
                <a:tc>
                  <a:txBody>
                    <a:bodyPr/>
                    <a:lstStyle/>
                    <a:p>
                      <a:pPr marL="285750" indent="-285750">
                        <a:lnSpc>
                          <a:spcPts val="1875"/>
                        </a:lnSpc>
                        <a:buFont typeface="Arial" panose="020B0604020202020204" pitchFamily="34" charset="0"/>
                        <a:buChar char="•"/>
                      </a:pPr>
                      <a:r>
                        <a:rPr lang="en-IN" sz="1600" b="1" dirty="0">
                          <a:effectLst/>
                          <a:latin typeface="quote-cjk-patch"/>
                        </a:rPr>
                        <a:t>Google </a:t>
                      </a:r>
                      <a:r>
                        <a:rPr lang="en-IN" sz="1600" b="1" dirty="0" err="1">
                          <a:effectLst/>
                          <a:latin typeface="quote-cjk-patch"/>
                        </a:rPr>
                        <a:t>Colab</a:t>
                      </a:r>
                      <a:endParaRPr lang="en-IN"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US" sz="1600" b="0">
                          <a:effectLst/>
                          <a:latin typeface="quote-cjk-patch"/>
                        </a:rPr>
                        <a:t>ML model training (Random Forest, XGBoost, Linear Regression)</a:t>
                      </a:r>
                      <a:endParaRPr lang="en-US" sz="1600" b="0">
                        <a:effectLst/>
                        <a:latin typeface="quote-cjk-patch"/>
                      </a:endParaRPr>
                    </a:p>
                  </a:txBody>
                  <a:tcPr marL="112124" marR="84093" marT="70077" marB="70077" anchor="ctr">
                    <a:lnL>
                      <a:noFill/>
                    </a:lnL>
                    <a:lnR>
                      <a:noFill/>
                    </a:lnR>
                    <a:lnT>
                      <a:noFill/>
                    </a:lnT>
                    <a:lnB>
                      <a:noFill/>
                    </a:lnB>
                    <a:noFill/>
                  </a:tcPr>
                </a:tc>
              </a:tr>
              <a:tr h="349745">
                <a:tc>
                  <a:txBody>
                    <a:bodyPr/>
                    <a:lstStyle/>
                    <a:p>
                      <a:pPr marL="285750" indent="-285750">
                        <a:lnSpc>
                          <a:spcPts val="1875"/>
                        </a:lnSpc>
                        <a:buFont typeface="Arial" panose="020B0604020202020204" pitchFamily="34" charset="0"/>
                        <a:buChar char="•"/>
                      </a:pPr>
                      <a:r>
                        <a:rPr lang="en-IN" sz="1600" b="1" dirty="0">
                          <a:effectLst/>
                          <a:latin typeface="quote-cjk-patch"/>
                        </a:rPr>
                        <a:t>FAISS / Chroma</a:t>
                      </a:r>
                      <a:endParaRPr lang="en-IN"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IN" sz="1600" b="0">
                          <a:effectLst/>
                          <a:latin typeface="quote-cjk-patch"/>
                        </a:rPr>
                        <a:t>Vector database for RAG retrieval</a:t>
                      </a:r>
                      <a:endParaRPr lang="en-IN" sz="1600" b="0">
                        <a:effectLst/>
                        <a:latin typeface="quote-cjk-patch"/>
                      </a:endParaRPr>
                    </a:p>
                  </a:txBody>
                  <a:tcPr marL="112124" marR="84093" marT="70077" marB="70077" anchor="ctr">
                    <a:lnL>
                      <a:noFill/>
                    </a:lnL>
                    <a:lnR>
                      <a:noFill/>
                    </a:lnR>
                    <a:lnT>
                      <a:noFill/>
                    </a:lnT>
                    <a:lnB>
                      <a:noFill/>
                    </a:lnB>
                    <a:noFill/>
                  </a:tcPr>
                </a:tc>
              </a:tr>
              <a:tr h="571656">
                <a:tc>
                  <a:txBody>
                    <a:bodyPr/>
                    <a:lstStyle/>
                    <a:p>
                      <a:pPr marL="285750" indent="-285750">
                        <a:lnSpc>
                          <a:spcPts val="1875"/>
                        </a:lnSpc>
                        <a:buFont typeface="Arial" panose="020B0604020202020204" pitchFamily="34" charset="0"/>
                        <a:buChar char="•"/>
                      </a:pPr>
                      <a:r>
                        <a:rPr lang="en-IN" sz="1600" b="1" dirty="0" err="1">
                          <a:effectLst/>
                          <a:latin typeface="quote-cjk-patch"/>
                        </a:rPr>
                        <a:t>Streamlit</a:t>
                      </a:r>
                      <a:endParaRPr lang="en-IN"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US" sz="1600" b="0">
                          <a:effectLst/>
                          <a:latin typeface="quote-cjk-patch"/>
                        </a:rPr>
                        <a:t>Interactive dashboard for data visualisation and chat interface</a:t>
                      </a:r>
                      <a:endParaRPr lang="en-US" sz="1600" b="0">
                        <a:effectLst/>
                        <a:latin typeface="quote-cjk-patch"/>
                      </a:endParaRPr>
                    </a:p>
                  </a:txBody>
                  <a:tcPr marL="112124" marR="84093" marT="70077" marB="70077" anchor="ctr">
                    <a:lnL>
                      <a:noFill/>
                    </a:lnL>
                    <a:lnR>
                      <a:noFill/>
                    </a:lnR>
                    <a:lnT>
                      <a:noFill/>
                    </a:lnT>
                    <a:lnB>
                      <a:noFill/>
                    </a:lnB>
                    <a:noFill/>
                  </a:tcPr>
                </a:tc>
              </a:tr>
              <a:tr h="571656">
                <a:tc>
                  <a:txBody>
                    <a:bodyPr/>
                    <a:lstStyle/>
                    <a:p>
                      <a:pPr marL="285750" indent="-285750">
                        <a:lnSpc>
                          <a:spcPts val="1875"/>
                        </a:lnSpc>
                        <a:buFont typeface="Arial" panose="020B0604020202020204" pitchFamily="34" charset="0"/>
                        <a:buChar char="•"/>
                      </a:pPr>
                      <a:r>
                        <a:rPr lang="en-US" sz="1600" b="1" dirty="0">
                          <a:effectLst/>
                          <a:latin typeface="quote-cjk-patch"/>
                        </a:rPr>
                        <a:t>Python (pandas, scikit‑learn, </a:t>
                      </a:r>
                      <a:r>
                        <a:rPr lang="en-US" sz="1600" b="1" dirty="0" err="1">
                          <a:effectLst/>
                          <a:latin typeface="quote-cjk-patch"/>
                        </a:rPr>
                        <a:t>xgboost</a:t>
                      </a:r>
                      <a:r>
                        <a:rPr lang="en-US" sz="1600" b="1" dirty="0">
                          <a:effectLst/>
                          <a:latin typeface="quote-cjk-patch"/>
                        </a:rPr>
                        <a:t>, </a:t>
                      </a:r>
                      <a:r>
                        <a:rPr lang="en-US" sz="1600" b="1" dirty="0" err="1">
                          <a:effectLst/>
                          <a:latin typeface="quote-cjk-patch"/>
                        </a:rPr>
                        <a:t>joblib</a:t>
                      </a:r>
                      <a:r>
                        <a:rPr lang="en-US" sz="1600" b="1" dirty="0">
                          <a:effectLst/>
                          <a:latin typeface="quote-cjk-patch"/>
                        </a:rPr>
                        <a:t>)</a:t>
                      </a:r>
                      <a:endParaRPr lang="en-US" sz="1600" b="0" dirty="0">
                        <a:effectLst/>
                        <a:latin typeface="quote-cjk-patch"/>
                      </a:endParaRPr>
                    </a:p>
                  </a:txBody>
                  <a:tcPr marL="84093" marR="112124" marT="70077" marB="70077" anchor="ctr">
                    <a:lnL>
                      <a:noFill/>
                    </a:lnL>
                    <a:lnR>
                      <a:noFill/>
                    </a:lnR>
                    <a:lnT>
                      <a:noFill/>
                    </a:lnT>
                    <a:lnB>
                      <a:noFill/>
                    </a:lnB>
                    <a:noFill/>
                  </a:tcPr>
                </a:tc>
                <a:tc>
                  <a:txBody>
                    <a:bodyPr/>
                    <a:lstStyle/>
                    <a:p>
                      <a:pPr>
                        <a:lnSpc>
                          <a:spcPts val="1875"/>
                        </a:lnSpc>
                        <a:buNone/>
                      </a:pPr>
                      <a:r>
                        <a:rPr lang="en-US" sz="1600" b="0" dirty="0">
                          <a:effectLst/>
                          <a:latin typeface="quote-cjk-patch"/>
                        </a:rPr>
                        <a:t>Data processing and ML model development</a:t>
                      </a:r>
                      <a:endParaRPr lang="en-US" sz="1600" b="0" dirty="0">
                        <a:effectLst/>
                        <a:latin typeface="quote-cjk-patch"/>
                      </a:endParaRPr>
                    </a:p>
                  </a:txBody>
                  <a:tcPr marL="112124" marR="84093" marT="70077" marB="70077" anchor="ctr">
                    <a:lnL>
                      <a:noFill/>
                    </a:lnL>
                    <a:lnR>
                      <a:noFill/>
                    </a:lnR>
                    <a:lnT>
                      <a:noFill/>
                    </a:lnT>
                    <a:lnB>
                      <a:noFill/>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369332"/>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Novelty and Uniqueness</a:t>
            </a:r>
            <a:endParaRPr lang="en-IN" sz="18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777240" y="1207008"/>
            <a:ext cx="11301984" cy="4247317"/>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The proposed </a:t>
            </a:r>
            <a:r>
              <a:rPr lang="en-US" sz="1800" b="1" dirty="0">
                <a:latin typeface="Times New Roman" panose="02020603050405020304" pitchFamily="18" charset="0"/>
                <a:cs typeface="Times New Roman" panose="02020603050405020304" pitchFamily="18" charset="0"/>
              </a:rPr>
              <a:t>Maternal Health SDG Tracker</a:t>
            </a:r>
            <a:r>
              <a:rPr lang="en-US" sz="1800" dirty="0">
                <a:latin typeface="Times New Roman" panose="02020603050405020304" pitchFamily="18" charset="0"/>
                <a:cs typeface="Times New Roman" panose="02020603050405020304" pitchFamily="18" charset="0"/>
              </a:rPr>
              <a:t> offers several unique advantages:</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Multi‑Agent Intelligence</a:t>
            </a:r>
            <a:r>
              <a:rPr lang="en-US" sz="1800" dirty="0">
                <a:latin typeface="Times New Roman" panose="02020603050405020304" pitchFamily="18" charset="0"/>
                <a:cs typeface="Times New Roman" panose="02020603050405020304" pitchFamily="18" charset="0"/>
              </a:rPr>
              <a:t> – Combines ML prediction, time‑series forecasting, and RAG‑based Q&amp;A into a single cohesive system.</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RAG‑Based Accuracy</a:t>
            </a:r>
            <a:r>
              <a:rPr lang="en-US" sz="1800" dirty="0">
                <a:latin typeface="Times New Roman" panose="02020603050405020304" pitchFamily="18" charset="0"/>
                <a:cs typeface="Times New Roman" panose="02020603050405020304" pitchFamily="18" charset="0"/>
              </a:rPr>
              <a:t> – Answers are grounded in official SDG datasets (</a:t>
            </a:r>
            <a:r>
              <a:rPr lang="en-US" sz="1800" dirty="0" err="1">
                <a:latin typeface="Times New Roman" panose="02020603050405020304" pitchFamily="18" charset="0"/>
                <a:cs typeface="Times New Roman" panose="02020603050405020304" pitchFamily="18" charset="0"/>
              </a:rPr>
              <a:t>AIKosh</a:t>
            </a:r>
            <a:r>
              <a:rPr lang="en-US" sz="1800" dirty="0">
                <a:latin typeface="Times New Roman" panose="02020603050405020304" pitchFamily="18" charset="0"/>
                <a:cs typeface="Times New Roman" panose="02020603050405020304" pitchFamily="18" charset="0"/>
              </a:rPr>
              <a:t>) and policy documents, reducing hallucination.</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Predictive &amp; Prescriptive Analytics</a:t>
            </a:r>
            <a:r>
              <a:rPr lang="en-US" sz="1800" dirty="0">
                <a:latin typeface="Times New Roman" panose="02020603050405020304" pitchFamily="18" charset="0"/>
                <a:cs typeface="Times New Roman" panose="02020603050405020304" pitchFamily="18" charset="0"/>
              </a:rPr>
              <a:t> – Not only forecasts MMR but also suggests interventions based on feature importance (e.g., “increase skilled birth attendance”).</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Real‑Time Adaptability</a:t>
            </a:r>
            <a:r>
              <a:rPr lang="en-US" sz="1800" dirty="0">
                <a:latin typeface="Times New Roman" panose="02020603050405020304" pitchFamily="18" charset="0"/>
                <a:cs typeface="Times New Roman" panose="02020603050405020304" pitchFamily="18" charset="0"/>
              </a:rPr>
              <a:t> – New data (e.g., latest SRS bulletin) can be added to the vector store and ML retraining pipeline.</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Policy‑Focused </a:t>
            </a:r>
            <a:r>
              <a:rPr lang="en-US" sz="1800" b="1" dirty="0" err="1">
                <a:latin typeface="Times New Roman" panose="02020603050405020304" pitchFamily="18" charset="0"/>
                <a:cs typeface="Times New Roman" panose="02020603050405020304" pitchFamily="18" charset="0"/>
              </a:rPr>
              <a:t>Visualisation</a:t>
            </a:r>
            <a:r>
              <a:rPr lang="en-US" sz="1800" dirty="0">
                <a:latin typeface="Times New Roman" panose="02020603050405020304" pitchFamily="18" charset="0"/>
                <a:cs typeface="Times New Roman" panose="02020603050405020304" pitchFamily="18" charset="0"/>
              </a:rPr>
              <a:t> – Interactive maps and trend lines designed for decision‑makers.</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Scalable &amp; Compliant</a:t>
            </a:r>
            <a:r>
              <a:rPr lang="en-US" sz="1800" dirty="0">
                <a:latin typeface="Times New Roman" panose="02020603050405020304" pitchFamily="18" charset="0"/>
                <a:cs typeface="Times New Roman" panose="02020603050405020304" pitchFamily="18" charset="0"/>
              </a:rPr>
              <a:t> – Built on IBM </a:t>
            </a:r>
            <a:r>
              <a:rPr lang="en-US" sz="1800" dirty="0">
                <a:latin typeface="Times New Roman" panose="02020603050405020304" pitchFamily="18" charset="0"/>
                <a:cs typeface="Times New Roman" panose="02020603050405020304" pitchFamily="18" charset="0"/>
                <a:hlinkClick r:id="rId1"/>
              </a:rPr>
              <a:t>watsonx.ai</a:t>
            </a:r>
            <a:r>
              <a:rPr lang="en-US" sz="1800" dirty="0">
                <a:latin typeface="Times New Roman" panose="02020603050405020304" pitchFamily="18" charset="0"/>
                <a:cs typeface="Times New Roman" panose="02020603050405020304" pitchFamily="18" charset="0"/>
              </a:rPr>
              <a:t> with full governance, suitable for government use.</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This goes far beyond a simple dashboard – it is an </a:t>
            </a:r>
            <a:r>
              <a:rPr lang="en-US" sz="1800" b="1" dirty="0">
                <a:latin typeface="Times New Roman" panose="02020603050405020304" pitchFamily="18" charset="0"/>
                <a:cs typeface="Times New Roman" panose="02020603050405020304" pitchFamily="18" charset="0"/>
              </a:rPr>
              <a:t>intelligent, autonomous maternal health advisor</a:t>
            </a:r>
            <a:r>
              <a:rPr lang="en-US" sz="1800" dirty="0">
                <a:latin typeface="Times New Roman" panose="02020603050405020304" pitchFamily="18" charset="0"/>
                <a:cs typeface="Times New Roman" panose="02020603050405020304" pitchFamily="18" charset="0"/>
              </a:rPr>
              <a:t> that helps nations achieve SDG</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3" y="2229865"/>
            <a:ext cx="10009715" cy="195867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sym typeface="Times New Roman" panose="02020603050405020304"/>
              </a:rPr>
              <a:t>Git Hub Link  : </a:t>
            </a: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sym typeface="Times New Roman" panose="02020603050405020304"/>
                <a:hlinkClick r:id="rId1"/>
              </a:rPr>
              <a:t>https://github.com/AsmitaPokharkar/Maternal-Health-SDG-An-AI-Powered-Monitoring-Advisory-System.git</a:t>
            </a: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sym typeface="Times New Roman" panose="02020603050405020304"/>
              </a:rPr>
              <a:t> </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sym typeface="Times New Roman" panose="02020603050405020304"/>
            </a:endParaRPr>
          </a:p>
          <a:p>
            <a:pPr marL="0" marR="0" lvl="0" indent="0" algn="l" rtl="0">
              <a:lnSpc>
                <a:spcPct val="157000"/>
              </a:lnSpc>
              <a:spcBef>
                <a:spcPts val="0"/>
              </a:spcBef>
              <a:spcAft>
                <a:spcPts val="0"/>
              </a:spcAft>
              <a:buClr>
                <a:srgbClr val="051D3A"/>
              </a:buClr>
              <a:buSzPts val="3500"/>
              <a:buFont typeface="Times New Roman" panose="02020603050405020304"/>
              <a:buNone/>
            </a:pPr>
            <a:endParaRPr sz="2800" b="1" dirty="0">
              <a:solidFill>
                <a:schemeClr val="tx1">
                  <a:lumMod val="75000"/>
                  <a:lumOff val="25000"/>
                </a:schemeClr>
              </a:solidFill>
              <a:latin typeface="Times New Roman" panose="02020603050405020304" pitchFamily="18" charset="0"/>
              <a:cs typeface="Times New Roman" panose="02020603050405020304" pitchFamily="18" charset="0"/>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800" b="1" dirty="0">
                <a:latin typeface="Times New Roman" panose="02020603050405020304" pitchFamily="18" charset="0"/>
                <a:cs typeface="Times New Roman" panose="02020603050405020304" pitchFamily="18" charset="0"/>
                <a:sym typeface="Times New Roman" panose="02020603050405020304"/>
              </a:rPr>
              <a:t>Future Scope : </a:t>
            </a:r>
            <a:endParaRPr sz="2800" b="1" dirty="0">
              <a:latin typeface="Times New Roman" panose="02020603050405020304" pitchFamily="18" charset="0"/>
              <a:cs typeface="Times New Roman" panose="02020603050405020304" pitchFamily="18" charset="0"/>
              <a:sym typeface="Times New Roman" panose="02020603050405020304"/>
            </a:endParaRPr>
          </a:p>
        </p:txBody>
      </p:sp>
      <p:sp>
        <p:nvSpPr>
          <p:cNvPr id="279" name="Google Shape;279;p18"/>
          <p:cNvSpPr/>
          <p:nvPr/>
        </p:nvSpPr>
        <p:spPr>
          <a:xfrm>
            <a:off x="1218724" y="1221715"/>
            <a:ext cx="9990050" cy="4277001"/>
          </a:xfrm>
          <a:prstGeom prst="rect">
            <a:avLst/>
          </a:prstGeom>
          <a:noFill/>
          <a:ln>
            <a:noFill/>
          </a:ln>
        </p:spPr>
        <p:txBody>
          <a:bodyPr spcFirstLastPara="1" wrap="square" lIns="0" tIns="0" rIns="0" bIns="0" anchor="t" anchorCtr="0">
            <a:noAutofit/>
          </a:bodyPr>
          <a:lstStyle/>
          <a:p>
            <a:pPr marL="285750"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State / District‑Level Data Integration</a:t>
            </a:r>
            <a:r>
              <a:rPr lang="en-IN" sz="1800" dirty="0">
                <a:latin typeface="Times New Roman" panose="02020603050405020304" pitchFamily="18" charset="0"/>
                <a:cs typeface="Times New Roman" panose="02020603050405020304" pitchFamily="18" charset="0"/>
              </a:rPr>
              <a:t> – Extend the current India‑level model to state‑wise and district‑wise analysis using granular NFHS and HMIS data.</a:t>
            </a:r>
            <a:endParaRPr lang="en-IN"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Real‑Time Data Streaming</a:t>
            </a:r>
            <a:r>
              <a:rPr lang="en-IN" sz="1800" dirty="0">
                <a:latin typeface="Times New Roman" panose="02020603050405020304" pitchFamily="18" charset="0"/>
                <a:cs typeface="Times New Roman" panose="02020603050405020304" pitchFamily="18" charset="0"/>
              </a:rPr>
              <a:t> – Integrate with health information systems (e.g., Health Management Information System) to update predictions dynamically.</a:t>
            </a:r>
            <a:endParaRPr lang="en-IN"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Causal Inference &amp; Intervention Planning</a:t>
            </a:r>
            <a:r>
              <a:rPr lang="en-IN" sz="1800" dirty="0">
                <a:latin typeface="Times New Roman" panose="02020603050405020304" pitchFamily="18" charset="0"/>
                <a:cs typeface="Times New Roman" panose="02020603050405020304" pitchFamily="18" charset="0"/>
              </a:rPr>
              <a:t> – Use causal ML (e.g., double ML) to estimate the impact of specific policies (e.g., Janani Suraksha Yojana) on MMR.</a:t>
            </a:r>
            <a:endParaRPr lang="en-IN"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Multilingual Support</a:t>
            </a:r>
            <a:r>
              <a:rPr lang="en-IN" sz="1800" dirty="0">
                <a:latin typeface="Times New Roman" panose="02020603050405020304" pitchFamily="18" charset="0"/>
                <a:cs typeface="Times New Roman" panose="02020603050405020304" pitchFamily="18" charset="0"/>
              </a:rPr>
              <a:t> – Enable queries in Hindi, Tamil, Marathi etc., using IBM Granite’s multilingual capabilities.</a:t>
            </a:r>
            <a:endParaRPr lang="en-IN"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Mobile App &amp; WhatsApp Bot</a:t>
            </a:r>
            <a:r>
              <a:rPr lang="en-IN" sz="1800" dirty="0">
                <a:latin typeface="Times New Roman" panose="02020603050405020304" pitchFamily="18" charset="0"/>
                <a:cs typeface="Times New Roman" panose="02020603050405020304" pitchFamily="18" charset="0"/>
              </a:rPr>
              <a:t> – Deploy the Q&amp;A assistant on popular messaging platforms to reach grassroots health workers.</a:t>
            </a:r>
            <a:endParaRPr lang="en-IN"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Integration with IBM Cloud Pak for Data</a:t>
            </a:r>
            <a:r>
              <a:rPr lang="en-IN" sz="1800" dirty="0">
                <a:latin typeface="Times New Roman" panose="02020603050405020304" pitchFamily="18" charset="0"/>
                <a:cs typeface="Times New Roman" panose="02020603050405020304" pitchFamily="18" charset="0"/>
              </a:rPr>
              <a:t> – For enterprise‑grade governance and collaboration across multiple states.</a:t>
            </a:r>
            <a:endParaRPr lang="en-IN" sz="1800" dirty="0">
              <a:latin typeface="Times New Roman" panose="02020603050405020304" pitchFamily="18" charset="0"/>
              <a:cs typeface="Times New Roman" panose="02020603050405020304" pitchFamily="18" charset="0"/>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7514</Words>
  <Application>WPS Presentation</Application>
  <PresentationFormat>Widescreen</PresentationFormat>
  <Paragraphs>188</Paragraphs>
  <Slides>13</Slides>
  <Notes>12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Arial</vt:lpstr>
      <vt:lpstr>Calibri</vt:lpstr>
      <vt:lpstr>Times New Roman</vt:lpstr>
      <vt:lpstr>Times New Roman</vt:lpstr>
      <vt:lpstr>quote-cjk-patch</vt:lpstr>
      <vt:lpstr>Segoe Print</vt:lpstr>
      <vt:lpstr>Menlo</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pokha</cp:lastModifiedBy>
  <cp:revision>23</cp:revision>
  <dcterms:created xsi:type="dcterms:W3CDTF">2025-07-08T05:06:00Z</dcterms:created>
  <dcterms:modified xsi:type="dcterms:W3CDTF">2026-05-29T18:18:39Z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C1A78D47ADCC431282E9963BDCBDD172_12</vt:lpwstr>
  </property>
  <property fmtid="{D5CDD505-2E9C-101B-9397-08002B2CF9AE}" pid="3" name="KSOProductBuildVer">
    <vt:lpwstr>1033-12.1.0.26372</vt:lpwstr>
  </property>
</Properties>
</file>